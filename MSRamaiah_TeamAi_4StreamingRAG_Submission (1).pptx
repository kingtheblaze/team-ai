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08-09-2026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08-09-2026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txBody>
          <a:bodyPr/>
          <a:p/>
        </p:txBody>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40" y="3310128"/>
            <a:ext cx="5852160" cy="777240"/>
          </a:xfrm>
          <a:prstGeom prst="rect">
            <a:avLst/>
          </a:prstGeom>
          <a:noFill/>
          <a:ln/>
        </p:spPr>
        <p:txBody>
          <a:bodyPr wrap="square" lIns="0" tIns="0" rIns="0" bIns="0" rtlCol="0" anchor="t"/>
          <a:lstStyle/>
          <a:p>
            <a:pPr marL="177800" indent="-177800">
              <a:spcAft>
                <a:spcPts val="500"/>
              </a:spcAft>
              <a:buSzPct val="100000"/>
              <a:buChar char="•"/>
            </a:pPr>
            <a:r>
              <a:rPr sz="1500">
                <a:latin typeface="Calibri"/>
              </a:rPr>
              <a:t>Theme ID - Streaming Live RAG</a:t>
            </a:r>
          </a:p>
          <a:p>
            <a:pPr marL="177800" indent="-177800">
              <a:spcAft>
                <a:spcPts val="500"/>
              </a:spcAft>
              <a:buSzPct val="100000"/>
              <a:buChar char="•"/>
            </a:pPr>
            <a:r>
              <a:rPr sz="1500">
                <a:latin typeface="Calibri"/>
              </a:rPr>
              <a:t>Team Name - Team AI</a:t>
            </a:r>
          </a:p>
          <a:p>
            <a:pPr marL="177800" indent="-177800">
              <a:spcAft>
                <a:spcPts val="500"/>
              </a:spcAft>
              <a:buSzPct val="100000"/>
              <a:buChar char="•"/>
            </a:pPr>
            <a:r>
              <a:rPr sz="1500">
                <a:latin typeface="Calibri"/>
              </a:rPr>
              <a:t>College Name - MS Ramaiah Institute of Technology</a:t>
            </a:r>
          </a:p>
          <a:p>
            <a:pPr marL="177800" indent="-177800">
              <a:spcAft>
                <a:spcPts val="500"/>
              </a:spcAft>
              <a:buSzPct val="100000"/>
              <a:buChar char="•"/>
            </a:pPr>
            <a:r>
              <a:rPr sz="1500">
                <a:latin typeface="Calibri"/>
              </a:rPr>
              <a:t>Member Name &amp; Email 1- Sambhav Heda</a:t>
            </a:r>
          </a:p>
          <a:p>
            <a:pPr marL="177800" indent="-177800">
              <a:spcAft>
                <a:spcPts val="500"/>
              </a:spcAft>
              <a:buSzPct val="100000"/>
              <a:buChar char="•"/>
            </a:pPr>
            <a:r>
              <a:rPr sz="1500">
                <a:latin typeface="Calibri"/>
              </a:rPr>
              <a:t>Submission Github link - https://github.com/Kingtheblaze/Team-AI.git</a:t>
            </a:r>
          </a:p>
          <a:p>
            <a:pPr marL="177800" indent="-177800">
              <a:spcAft>
                <a:spcPts val="500"/>
              </a:spcAft>
              <a:buSzPct val="100000"/>
              <a:buFontTx/>
              <a:buChar char="•"/>
            </a:pPr>
          </a:p>
          <a:p>
            <a:pPr marL="177800" indent="-177800">
              <a:spcAft>
                <a:spcPts val="500"/>
              </a:spcAft>
              <a:buSzPct val="100000"/>
              <a:buFontTx/>
              <a:buChar char="•"/>
            </a:pPr>
          </a:p>
          <a:p>
            <a:pPr marL="177800" indent="-177800">
              <a:spcAft>
                <a:spcPts val="500"/>
              </a:spcAft>
              <a:buSzPct val="100000"/>
              <a:buFontTx/>
              <a:buChar char="•"/>
            </a:pPr>
          </a:p>
          <a:p>
            <a:pPr marL="177800" indent="-177800">
              <a:spcAft>
                <a:spcPts val="500"/>
              </a:spcAft>
              <a:buSzPct val="100000"/>
              <a:buChar char="•"/>
            </a:pPr>
            <a:endParaRPr lang="en-US" sz="1600" dirty="0">
              <a:solidFill>
                <a:srgbClr val="63637E"/>
              </a:solidFill>
              <a:latin typeface="Calibri" pitchFamily="34" charset="0"/>
              <a:ea typeface="Calibri" pitchFamily="34" charset="-122"/>
              <a:cs typeface="Calibri" pitchFamily="34" charset="-120"/>
            </a:endParaRPr>
          </a:p>
        </p:txBody>
      </p:sp>
      <p:pic>
        <p:nvPicPr>
          <p:cNvPr id="14" name="Image 0" descr="hero_network.png"/>
          <p:cNvPicPr>
            <a:picLocks noChangeAspect="1"/>
          </p:cNvPicPr>
          <p:nvPr/>
        </p:nvPicPr>
        <p:blipFill>
          <a:blip r:embed="rId3"/>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Theme</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r>
              <a:rPr b="1" sz="2000">
                <a:latin typeface="Calibri"/>
              </a:rPr>
              <a:t>ChronoStream RAG — Adaptive Temporal Streaming Retrieval-Augmented Generation</a:t>
            </a:r>
            <a:endParaRPr lang="en-IN"/>
          </a:p>
          <a:p>
            <a:pPr/>
            <a:r>
              <a:rPr b="0" sz="1500">
                <a:latin typeface="Calibri"/>
              </a:rPr>
              <a:t>Problem: Traditional RAG uses static knowledge bases that become stale within minutes on live data streams (news, sensors, audio, markets).</a:t>
            </a:r>
          </a:p>
          <a:p>
            <a:pPr/>
            <a:r>
              <a:rPr b="0" sz="1500">
                <a:latin typeface="Calibri"/>
              </a:rPr>
              <a:t>Our Theme Focus: Streaming Live RAG — continuously ingest live streams, maintain an always-fresh temporal index, and answer time-sensitive queries with low latency and precise source attribution.</a:t>
            </a:r>
          </a:p>
          <a:p>
            <a:pPr/>
            <a:r>
              <a:rPr b="1" sz="1600">
                <a:latin typeface="Calibri"/>
              </a:rPr>
              <a:t>Solution Name: ChronoStream RAG</a:t>
            </a:r>
          </a:p>
          <a:p>
            <a:pPr/>
            <a:r>
              <a:rPr b="0" sz="1500">
                <a:latin typeface="Calibri"/>
              </a:rPr>
              <a:t>Key Idea: Hierarchical adaptive prototypes + event-driven temporal knowledge graph + learned retrieval trigger + edge-friendly design.</a:t>
            </a:r>
          </a:p>
          <a:p>
            <a:pPr/>
            <a:r>
              <a:rPr b="0" sz="1500">
                <a:latin typeface="Calibri"/>
              </a:rPr>
              <a:t>Why this theme is powerful for the hackathon: High real-world impact, measurable freshness/latency gains, strong differentiation from vanilla RAG, and feasible for a solid working prototype.</a:t>
            </a:r>
          </a:p>
        </p:txBody>
      </p: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normAutofit/>
          </a:bodyPr>
          <a:lstStyle/>
          <a:p>
            <a:r>
              <a:rPr lang="en-IN" b="1" dirty="0">
                <a:solidFill>
                  <a:srgbClr val="704EA6"/>
                </a:solidFill>
                <a:latin typeface="+mn-lt"/>
                <a:cs typeface="Arial" pitchFamily="34" charset="-120"/>
              </a:rPr>
              <a:t>Existing Solutions &amp; Gaps</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r>
              <a:rPr b="1" sz="1400">
                <a:latin typeface="Calibri"/>
              </a:rPr>
              <a:t>Gaps identified from recent Streaming RAG literature (Zhu 2025, Sankaradas StreamingRAG, Stream RAG speech, RisingWave, StreamingBench, etc.):</a:t>
            </a:r>
            <a:endParaRPr lang="en-IN"/>
          </a:p>
          <a:p>
            <a:pPr/>
            <a:r>
              <a:rPr b="0" sz="1200">
                <a:latin typeface="Calibri"/>
              </a:rPr>
              <a:t>1. Memory vs Semantic Coverage — Full indices explode memory; heavy-hitter filters lose rare but critical topics.</a:t>
            </a:r>
          </a:p>
          <a:p>
            <a:pPr/>
            <a:r>
              <a:rPr b="0" sz="1200">
                <a:latin typeface="Calibri"/>
              </a:rPr>
              <a:t>2. Persistent Staleness — Even frequent batch re-indexing leaves minutes/hours of outdated context → hallucinations.</a:t>
            </a:r>
          </a:p>
          <a:p>
            <a:pPr/>
            <a:r>
              <a:rPr b="0" sz="1200">
                <a:latin typeface="Calibri"/>
              </a:rPr>
              <a:t>3. Latency of Heavy Multimodal Models — MM-LLMs take 3–5 s/frame, missing unfolding events.</a:t>
            </a:r>
          </a:p>
          <a:p>
            <a:pPr/>
            <a:r>
              <a:rPr b="0" sz="1200">
                <a:latin typeface="Calibri"/>
              </a:rPr>
              <a:t>4. Weak Temporal &amp; Multi-turn Reasoning — Poor support for long time windows and noisy continuous dialogue.</a:t>
            </a:r>
          </a:p>
          <a:p>
            <a:pPr/>
            <a:r>
              <a:rPr b="0" sz="1200">
                <a:latin typeface="Calibri"/>
              </a:rPr>
              <a:t>5. Brittle Heuristic Triggering — Fixed-interval or hand-crafted rules for when to retrieve.</a:t>
            </a:r>
          </a:p>
          <a:p>
            <a:pPr/>
            <a:r>
              <a:rPr b="0" sz="1200">
                <a:latin typeface="Calibri"/>
              </a:rPr>
              <a:t>6. Cloud-heavy / Edge-unfriendly — Limited privacy-preserving or on-device streaming RAG.</a:t>
            </a:r>
          </a:p>
          <a:p>
            <a:pPr/>
            <a:r>
              <a:rPr b="0" sz="1200">
                <a:latin typeface="Calibri"/>
              </a:rPr>
              <a:t>7. Fragmented Modalities — Text, audio, video, and structured streams rarely unified.</a:t>
            </a:r>
          </a:p>
          <a:p>
            <a:pPr/>
            <a:r>
              <a:rPr b="0" sz="1200">
                <a:latin typeface="Calibri"/>
              </a:rPr>
              <a:t>8. Low Absolute Accuracy + Weak Evaluation — Relative gains look good; real-world noisy benchmarks scarce.</a:t>
            </a:r>
          </a:p>
          <a:p>
            <a:pPr/>
            <a:r>
              <a:rPr b="0" sz="1200">
                <a:latin typeface="Calibri"/>
              </a:rPr>
              <a:t>9. Production Scalability Failures — Demo systems collapse under concurrent high-throughput updates.</a:t>
            </a:r>
          </a:p>
          <a:p>
            <a:pPr/>
            <a:r>
              <a:rPr b="0" sz="1200">
                <a:latin typeface="Calibri"/>
              </a:rPr>
              <a:t>10. Poor Source Attribution — Hard to cite precise timestamps in evolving live streams.</a:t>
            </a:r>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909917" y="266513"/>
            <a:ext cx="10515600" cy="1325563"/>
          </a:xfrm>
        </p:spPr>
        <p:txBody>
          <a:bodyPr/>
          <a:lstStyle/>
          <a:p>
            <a:r>
              <a:rPr lang="en-IN" b="1" dirty="0">
                <a:solidFill>
                  <a:srgbClr val="704EA6"/>
                </a:solidFill>
                <a:latin typeface="+mn-lt"/>
              </a:rPr>
              <a:t>Our Solutions &amp; Architecture Diagram</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r>
              <a:rPr b="1" sz="1800">
                <a:latin typeface="Calibri"/>
              </a:rPr>
              <a:t>ChronoStream RAG Architecture</a:t>
            </a:r>
            <a:endParaRPr lang="en-IN"/>
          </a:p>
          <a:p>
            <a:pPr/>
            <a:r>
              <a:rPr b="0" sz="1400">
                <a:latin typeface="Calibri"/>
              </a:rPr>
              <a:t>1. Live Ingestion Layer: Continuous streams (news/audio/sensors) → lightweight chunking + embedding (quantized models).</a:t>
            </a:r>
          </a:p>
          <a:p>
            <a:pPr/>
            <a:r>
              <a:rPr b="0" sz="1400">
                <a:latin typeface="Calibri"/>
              </a:rPr>
              <a:t>2. Hierarchical Adaptive Prototypes: Micro-clusters for fine coverage + global heavy-hitters with temporal decay (solves memory/coverage gap).</a:t>
            </a:r>
          </a:p>
          <a:p>
            <a:pPr/>
            <a:r>
              <a:rPr b="0" sz="1400">
                <a:latin typeface="Calibri"/>
              </a:rPr>
              <a:t>3. Event-Driven Temporal Knowledge Graph: Cheap scorer prioritizes important events → incremental KG updates with timestamps.</a:t>
            </a:r>
          </a:p>
          <a:p>
            <a:pPr/>
            <a:r>
              <a:rPr b="0" sz="1400">
                <a:latin typeface="Calibri"/>
              </a:rPr>
              <a:t>4. Learned Retrieval Trigger + Prefetch: Tiny classifier decides when/what to retrieve from partial input; parallel prefetch hides latency.</a:t>
            </a:r>
          </a:p>
          <a:p>
            <a:pPr/>
            <a:r>
              <a:rPr b="0" sz="1400">
                <a:latin typeface="Calibri"/>
              </a:rPr>
              <a:t>5. Hybrid Time-Aware Retriever: Dense + sparse + temporal filters + recency-biased re-ranker. Answers carry precise UTC citations.</a:t>
            </a:r>
          </a:p>
          <a:p>
            <a:pPr/>
            <a:r>
              <a:rPr b="0" sz="1400">
                <a:latin typeface="Calibri"/>
              </a:rPr>
              <a:t>6. Edge-First Execution: On-device index for privacy-sensitive data; selective cloud offload only for heavy generation.</a:t>
            </a:r>
          </a:p>
          <a:p>
            <a:pPr/>
            <a:r>
              <a:rPr b="1" sz="1400">
                <a:latin typeface="Calibri"/>
              </a:rPr>
              <a:t>Result: Sub-second freshness, bounded memory, low perceived latency, multimodal + structured streams in one system.</a:t>
            </a:r>
          </a:p>
        </p:txBody>
      </p:sp>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IN" b="1" dirty="0">
                <a:solidFill>
                  <a:srgbClr val="704EA6"/>
                </a:solidFill>
                <a:latin typeface="+mn-lt"/>
              </a:rPr>
              <a:t>Demo &amp; Product Walkthrough</a:t>
            </a: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r>
              <a:rPr b="1" sz="1800">
                <a:latin typeface="Calibri"/>
              </a:rPr>
              <a:t>Demo Flow (max 5 min video)</a:t>
            </a:r>
            <a:endParaRPr lang="en-IN"/>
          </a:p>
          <a:p>
            <a:pPr/>
            <a:r>
              <a:rPr b="0" sz="1500">
                <a:latin typeface="Calibri"/>
              </a:rPr>
              <a:t>1. Start live stream (e.g., BBC World Service audio or simulated news/sensor feed).</a:t>
            </a:r>
          </a:p>
          <a:p>
            <a:pPr/>
            <a:r>
              <a:rPr b="0" sz="1500">
                <a:latin typeface="Calibri"/>
              </a:rPr>
              <a:t>2. System continuously transcribes / chunks / embeds / updates hierarchical prototypes + temporal KG in background.</a:t>
            </a:r>
          </a:p>
          <a:p>
            <a:pPr/>
            <a:r>
              <a:rPr b="0" sz="1500">
                <a:latin typeface="Calibri"/>
              </a:rPr>
              <a:t>3. User asks time-sensitive question: “What were the main topics in the last 10 minutes?” or “Any critical sensor anomaly since 14:20?”</a:t>
            </a:r>
          </a:p>
          <a:p>
            <a:pPr/>
            <a:r>
              <a:rPr b="0" sz="1500">
                <a:latin typeface="Calibri"/>
              </a:rPr>
              <a:t>4. Learned trigger fires → hybrid retrieval with temporal filter → LLM generates answer with precise timestamped citations.</a:t>
            </a:r>
          </a:p>
          <a:p>
            <a:pPr/>
            <a:r>
              <a:rPr b="0" sz="1500">
                <a:latin typeface="Calibri"/>
              </a:rPr>
              <a:t>5. Show side-by-side comparison: static RAG (stale) vs ChronoStream (fresh, low latency).</a:t>
            </a:r>
          </a:p>
          <a:p>
            <a:pPr/>
            <a:r>
              <a:rPr b="0" sz="1500">
                <a:latin typeface="Calibri"/>
              </a:rPr>
              <a:t>6. Optional: demonstrate edge mode (on-device index) and multi-modal (audio + text).</a:t>
            </a:r>
          </a:p>
          <a:p>
            <a:pPr/>
            <a:r>
              <a:rPr b="1" sz="1500">
                <a:latin typeface="Calibri"/>
              </a:rPr>
              <a:t>Deliverables: Working prototype + public GitHub + 5-min demo video + this presentation.</a:t>
            </a:r>
          </a:p>
        </p:txBody>
      </p:sp>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Tools and tech stack used</a:t>
            </a:r>
            <a:endParaRPr lang="en-IN"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r>
              <a:rPr b="1" sz="1600">
                <a:latin typeface="Calibri"/>
              </a:rPr>
              <a:t>Tech Stack (chosen for speed of prototyping + production relevance)</a:t>
            </a:r>
            <a:endParaRPr lang="en-IN" dirty="0"/>
          </a:p>
          <a:p>
            <a:pPr/>
            <a:r>
              <a:rPr b="0" sz="1400">
                <a:latin typeface="Calibri"/>
              </a:rPr>
              <a:t>Language &amp; Orchestration: Python 3.11+, LangChain / LlamaIndex, FastAPI</a:t>
            </a:r>
          </a:p>
          <a:p>
            <a:pPr/>
            <a:r>
              <a:rPr b="0" sz="1400">
                <a:latin typeface="Calibri"/>
              </a:rPr>
              <a:t>Streaming &amp; Ingestion: Kafka / Redis Streams or simple WebSocket + asyncio; optional RisingWave-style continuous views</a:t>
            </a:r>
          </a:p>
          <a:p>
            <a:pPr/>
            <a:r>
              <a:rPr b="0" sz="1400">
                <a:latin typeface="Calibri"/>
              </a:rPr>
              <a:t>Embeddings &amp; Vector Store: sentence-transformers (quantized) + Qdrant / Chroma with incremental upserts + temporal metadata</a:t>
            </a:r>
          </a:p>
          <a:p>
            <a:pPr/>
            <a:r>
              <a:rPr b="0" sz="1400">
                <a:latin typeface="Calibri"/>
              </a:rPr>
              <a:t>Speech / Audio: Faster-Whisper or NVIDIA Riva-style ASR for live transcription</a:t>
            </a:r>
          </a:p>
          <a:p>
            <a:pPr/>
            <a:r>
              <a:rPr b="0" sz="1400">
                <a:latin typeface="Calibri"/>
              </a:rPr>
              <a:t>LLM: Open-source (Llama-3.1/3.2, Qwen2.5, Gemma) via vLLM / Ollama + optional API fallback</a:t>
            </a:r>
          </a:p>
          <a:p>
            <a:pPr/>
            <a:r>
              <a:rPr b="0" sz="1400">
                <a:latin typeface="Calibri"/>
              </a:rPr>
              <a:t>Temporal KG: NetworkX / Neo4j community or lightweight in-memory graph with timestamped edges</a:t>
            </a:r>
          </a:p>
          <a:p>
            <a:pPr/>
            <a:r>
              <a:rPr b="0" sz="1400">
                <a:latin typeface="Calibri"/>
              </a:rPr>
              <a:t>Trigger Model: Small classifier (scikit-learn / tiny transformer) on partial input features</a:t>
            </a:r>
          </a:p>
          <a:p>
            <a:pPr/>
            <a:r>
              <a:rPr b="0" sz="1400">
                <a:latin typeface="Calibri"/>
              </a:rPr>
              <a:t>Frontend / Demo: Streamlit or Gradio for quick interactive UI + timestamped answer display</a:t>
            </a:r>
          </a:p>
          <a:p>
            <a:pPr/>
            <a:r>
              <a:rPr b="0" sz="1400">
                <a:latin typeface="Calibri"/>
              </a:rPr>
              <a:t>Infra: Docker for reproducibility; GitHub Actions for CI; optional edge (ONNX / quantization)</a:t>
            </a:r>
          </a:p>
        </p:txBody>
      </p:sp>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r>
              <a:rPr lang="en-US" sz="4400" b="1" dirty="0">
                <a:solidFill>
                  <a:srgbClr val="704EA6"/>
                </a:solidFill>
                <a:latin typeface="Calibri" pitchFamily="34" charset="0"/>
                <a:ea typeface="Calibri" pitchFamily="34" charset="-122"/>
                <a:cs typeface="Calibri" pitchFamily="34" charset="-120"/>
              </a:rPr>
              <a:t>Impact &amp; Use case</a:t>
            </a:r>
            <a:endParaRPr lang="en-IN"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r>
              <a:rPr b="1" sz="1800">
                <a:latin typeface="Calibri"/>
              </a:rPr>
              <a:t>High-Impact Use Cases</a:t>
            </a:r>
            <a:endParaRPr lang="en-IN" dirty="0"/>
          </a:p>
          <a:p>
            <a:pPr/>
            <a:r>
              <a:rPr b="0" sz="1400">
                <a:latin typeface="Calibri"/>
              </a:rPr>
              <a:t>1. Live News &amp; Event Intelligence — Answer “what happened in the last 15 minutes” with source timestamps; journalists, analysts, emergency response.</a:t>
            </a:r>
          </a:p>
          <a:p>
            <a:pPr/>
            <a:r>
              <a:rPr b="0" sz="1400">
                <a:latin typeface="Calibri"/>
              </a:rPr>
              <a:t>2. Smart-Home / Elder-Care Monitoring (Samsung ecosystem fit) — Continuous audio + sensor streams; real-time anomaly queries with privacy-first on-device index.</a:t>
            </a:r>
          </a:p>
          <a:p>
            <a:pPr/>
            <a:r>
              <a:rPr b="0" sz="1400">
                <a:latin typeface="Calibri"/>
              </a:rPr>
              <a:t>3. Financial / Market Monitoring — Tick-level and news streams; always-fresh context for trading assistants without hallucination on stale prices.</a:t>
            </a:r>
          </a:p>
          <a:p>
            <a:pPr/>
            <a:r>
              <a:rPr b="0" sz="1400">
                <a:latin typeface="Calibri"/>
              </a:rPr>
              <a:t>4. Industrial IoT &amp; Predictive Maintenance — Sensor streams + logs; time-window queries (“any vibration spike since shift start?”).</a:t>
            </a:r>
          </a:p>
          <a:p>
            <a:pPr/>
            <a:r>
              <a:rPr b="1" sz="1400">
                <a:latin typeface="Calibri"/>
              </a:rPr>
              <a:t>Impact Metrics: Context freshness (seconds vs hours), TTFT / perceived latency, Recall@k on temporal queries, memory footprint, hallucination rate on time-sensitive facts.</a:t>
            </a:r>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Innovation highlights, results and limitations</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r>
              <a:rPr b="1" sz="1600">
                <a:latin typeface="Calibri"/>
              </a:rPr>
              <a:t>Innovation Highlights &amp; Expected Results</a:t>
            </a:r>
            <a:endParaRPr lang="en-IN" dirty="0"/>
          </a:p>
          <a:p>
            <a:pPr/>
            <a:r>
              <a:rPr b="0" sz="1300">
                <a:latin typeface="Calibri"/>
              </a:rPr>
              <a:t>• Hierarchical Adaptive Prototypes — first practical reconciliation of heavy-hitter memory bounds with semantic coverage for RAG.</a:t>
            </a:r>
          </a:p>
          <a:p>
            <a:pPr/>
            <a:r>
              <a:rPr b="0" sz="1300">
                <a:latin typeface="Calibri"/>
              </a:rPr>
              <a:t>• Learned Trigger + Prefetch — moves beyond fixed-interval heuristics; reduces unnecessary tool calls and hides latency.</a:t>
            </a:r>
          </a:p>
          <a:p>
            <a:pPr/>
            <a:r>
              <a:rPr b="0" sz="1300">
                <a:latin typeface="Calibri"/>
              </a:rPr>
              <a:t>• Unified Temporal KG for multimodal + structured streams with precise attribution.</a:t>
            </a:r>
          </a:p>
          <a:p>
            <a:pPr/>
            <a:r>
              <a:rPr b="0" sz="1300">
                <a:latin typeface="Calibri"/>
              </a:rPr>
              <a:t>• Edge-first design — privacy and offline capability missing from most 2025–26 Streaming RAG papers.</a:t>
            </a:r>
          </a:p>
          <a:p>
            <a:pPr/>
            <a:r>
              <a:rPr b="1" sz="1300">
                <a:latin typeface="Calibri"/>
              </a:rPr>
              <a:t>Expected Results (prototype targets): sub-15–30 s freshness, &lt;1 s perceived latency on simple queries, measurable gain on temporal QA vs static RAG, bounded memory under continuous load.</a:t>
            </a:r>
          </a:p>
          <a:p>
            <a:pPr/>
            <a:r>
              <a:rPr b="1" sz="1400">
                <a:latin typeface="Calibri"/>
              </a:rPr>
              <a:t>Limitations (honest)</a:t>
            </a:r>
          </a:p>
          <a:p>
            <a:pPr/>
            <a:r>
              <a:rPr b="0" sz="1300">
                <a:latin typeface="Calibri"/>
              </a:rPr>
              <a:t>• Absolute accuracy still depends on underlying LLM and embedding quality.</a:t>
            </a:r>
          </a:p>
          <a:p>
            <a:pPr/>
            <a:r>
              <a:rPr b="0" sz="1300">
                <a:latin typeface="Calibri"/>
              </a:rPr>
              <a:t>• Very high-throughput multimodal streams may still require cloud offload for heavy extraction.</a:t>
            </a:r>
          </a:p>
          <a:p>
            <a:pPr/>
            <a:r>
              <a:rPr b="0" sz="1300">
                <a:latin typeface="Calibri"/>
              </a:rPr>
              <a:t>• Long-term temporal memory (days/weeks) needs further hierarchical summarization research.</a:t>
            </a:r>
          </a:p>
          <a:p>
            <a:pPr/>
            <a:r>
              <a:rPr b="0" sz="1300">
                <a:latin typeface="Calibri"/>
              </a:rPr>
              <a:t>• Full user-study on conversational flow is future work.</a:t>
            </a:r>
          </a:p>
        </p:txBody>
      </p:sp>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What’s next</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r>
              <a:rPr b="1" sz="1800">
                <a:latin typeface="Calibri"/>
              </a:rPr>
              <a:t>Roadmap</a:t>
            </a:r>
            <a:endParaRPr lang="en-IN" dirty="0"/>
          </a:p>
          <a:p>
            <a:pPr/>
            <a:r>
              <a:rPr b="0" sz="1400">
                <a:latin typeface="Calibri"/>
              </a:rPr>
              <a:t>Short-term (post-hackathon): Polish public GitHub, add more stream sources, tighten evaluation suite on temporal QA benchmarks.</a:t>
            </a:r>
          </a:p>
          <a:p>
            <a:pPr/>
            <a:r>
              <a:rPr b="0" sz="1400">
                <a:latin typeface="Calibri"/>
              </a:rPr>
              <a:t>Medium-term: Stronger multi-agent orchestration, longer temporal hierarchical memory, on-device quantized full pipeline for Galaxy/SmartThings devices.</a:t>
            </a:r>
          </a:p>
          <a:p>
            <a:pPr/>
            <a:r>
              <a:rPr b="0" sz="1400">
                <a:latin typeface="Calibri"/>
              </a:rPr>
              <a:t>Longer-term: User studies on perceived latency and trust; open temporal streaming RAG benchmark; integration with Samsung PRISM / Language AI ecosystem.</a:t>
            </a:r>
          </a:p>
          <a:p>
            <a:pPr/>
            <a:r>
              <a:rPr b="0" sz="1400">
                <a:latin typeface="Calibri"/>
              </a:rPr>
              <a:t>Research extensions: Theoretical bounds on adaptive prototype quality under concept drift; privacy-preserving federated streaming RAG.</a:t>
            </a:r>
          </a:p>
        </p:txBody>
      </p:sp>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p:txBody>
          <a:bodyPr/>
          <a:lstStyle/>
          <a:p>
            <a:pPr>
              <a:spcAft>
                <a:spcPts val="500"/>
              </a:spcAft>
              <a:buSzPct val="100000"/>
            </a:pPr>
            <a:r>
              <a:rPr lang="en-US" sz="4400" b="1" dirty="0">
                <a:solidFill>
                  <a:srgbClr val="704EA6"/>
                </a:solidFill>
                <a:latin typeface="Calibri" pitchFamily="34" charset="0"/>
                <a:ea typeface="Calibri" pitchFamily="34" charset="-122"/>
                <a:cs typeface="Calibri" pitchFamily="34" charset="-120"/>
              </a:rPr>
              <a:t>Brownie points slide( differentiation)</a:t>
            </a:r>
            <a:endParaRPr lang="en-US" sz="4400" b="1" dirty="0">
              <a:solidFill>
                <a:srgbClr val="704EA6"/>
              </a:solidFill>
            </a:endParaRPr>
          </a:p>
        </p:txBody>
      </p:sp>
      <p:sp>
        <p:nvSpPr>
          <p:cNvPr id="3" name="Content Placeholder 2">
            <a:extLst>
              <a:ext uri="{FF2B5EF4-FFF2-40B4-BE49-F238E27FC236}">
                <a16:creationId xmlns:a16="http://schemas.microsoft.com/office/drawing/2014/main" id="{539AB598-5650-4E46-905A-9096F4C50C3B}"/>
              </a:ext>
            </a:extLst>
          </p:cNvPr>
          <p:cNvSpPr>
            <a:spLocks noGrp="1"/>
          </p:cNvSpPr>
          <p:nvPr>
            <p:ph idx="1"/>
          </p:nvPr>
        </p:nvSpPr>
        <p:spPr/>
        <p:txBody>
          <a:bodyPr/>
          <a:lstStyle/>
          <a:p>
            <a:r>
              <a:rPr b="1" sz="1800">
                <a:latin typeface="Calibri"/>
              </a:rPr>
              <a:t>Differentiation / Brownie Points</a:t>
            </a:r>
            <a:endParaRPr lang="en-IN" dirty="0"/>
          </a:p>
          <a:p>
            <a:pPr/>
            <a:r>
              <a:rPr b="0" sz="1400">
                <a:latin typeface="Calibri"/>
              </a:rPr>
              <a:t>• Directly closes the 10 concrete gaps identified from the latest 2025–2026 Streaming RAG papers instead of re-implementing one of them.</a:t>
            </a:r>
          </a:p>
          <a:p>
            <a:pPr/>
            <a:r>
              <a:rPr b="0" sz="1400">
                <a:latin typeface="Calibri"/>
              </a:rPr>
              <a:t>• Only system that jointly addresses memory-coverage trade-off + learned triggering + temporal KG + edge privacy in one coherent architecture.</a:t>
            </a:r>
          </a:p>
          <a:p>
            <a:pPr/>
            <a:r>
              <a:rPr b="0" sz="1400">
                <a:latin typeface="Calibri"/>
              </a:rPr>
              <a:t>• Strong Samsung relevance: smart-home / elder-care / on-device intelligence fit perfectly with PRISM and Galaxy ecosystem.</a:t>
            </a:r>
          </a:p>
          <a:p>
            <a:pPr/>
            <a:r>
              <a:rPr b="0" sz="1400">
                <a:latin typeface="Calibri"/>
              </a:rPr>
              <a:t>• Measurable, demo-able metrics (freshness, latency, temporal Recall) that judges can verify in a 5-min video.</a:t>
            </a:r>
          </a:p>
          <a:p>
            <a:pPr/>
            <a:r>
              <a:rPr b="0" sz="1400">
                <a:latin typeface="Calibri"/>
              </a:rPr>
              <a:t>• Production mindset: Docker, reproducible setup, incremental upserts that never block queries — not just a research prototype.</a:t>
            </a:r>
          </a:p>
          <a:p>
            <a:pPr/>
            <a:r>
              <a:rPr b="0" sz="1400">
                <a:latin typeface="Calibri"/>
              </a:rPr>
              <a:t>• Honest limitations slide shows research maturity.</a:t>
            </a:r>
          </a:p>
        </p:txBody>
      </p:sp>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lstStyle/>
          <a:p>
            <a:r>
              <a:rPr lang="en-IN" b="1" dirty="0">
                <a:solidFill>
                  <a:srgbClr val="704EA6"/>
                </a:solidFill>
                <a:latin typeface="+mn-lt"/>
              </a:rPr>
              <a:t>Checklist- Updated on Public GitHub</a:t>
            </a:r>
          </a:p>
        </p:txBody>
      </p:sp>
      <p:sp>
        <p:nvSpPr>
          <p:cNvPr id="3" name="Content Placeholder 2">
            <a:extLst>
              <a:ext uri="{FF2B5EF4-FFF2-40B4-BE49-F238E27FC236}">
                <a16:creationId xmlns:a16="http://schemas.microsoft.com/office/drawing/2014/main" id="{DAB3E6F6-9D00-4480-90E6-EC3C876F2628}"/>
              </a:ext>
            </a:extLst>
          </p:cNvPr>
          <p:cNvSpPr>
            <a:spLocks noGrp="1"/>
          </p:cNvSpPr>
          <p:nvPr>
            <p:ph idx="1"/>
          </p:nvPr>
        </p:nvSpPr>
        <p:spPr/>
        <p:txBody>
          <a:bodyPr/>
          <a:lstStyle/>
          <a:p>
            <a:pPr marL="177800" indent="-177800">
              <a:spcAft>
                <a:spcPts val="500"/>
              </a:spcAft>
              <a:buSzPct val="100000"/>
              <a:buChar char="•"/>
            </a:pPr>
            <a:r>
              <a:rPr sz="1600" b="1">
                <a:latin typeface="Calibri"/>
              </a:rPr>
              <a:t>Working prototype code — public GitHub repo (Y)</a:t>
            </a:r>
            <a:endParaRPr lang="en-US" sz="2800" dirty="0"/>
          </a:p>
          <a:p>
            <a:pPr/>
          </a:p>
          <a:p>
            <a:pPr/>
          </a:p>
          <a:p>
            <a:pPr/>
          </a:p>
          <a:p>
            <a:pPr/>
          </a:p>
          <a:p>
            <a:pPr/>
          </a:p>
          <a:p>
            <a:r>
              <a:rPr sz="1500" b="0">
                <a:latin typeface="Calibri"/>
              </a:rPr>
              <a:t>https://github.com/Kingtheblaze/Team-AI.git</a:t>
            </a:r>
          </a:p>
          <a:p>
            <a:r>
              <a:rPr sz="1500" b="1">
                <a:latin typeface="Calibri"/>
              </a:rPr>
              <a:t>README with reproducible setup instructions (Y)</a:t>
            </a:r>
          </a:p>
          <a:p>
            <a:r>
              <a:rPr sz="1500" b="0">
                <a:latin typeface="Calibri"/>
              </a:rPr>
              <a:t>Demo video, max 5 minutes (YouTube or Drive link) (Y — to be recorded)</a:t>
            </a:r>
          </a:p>
          <a:p>
            <a:r>
              <a:rPr sz="1500" b="0">
                <a:latin typeface="Calibri"/>
              </a:rPr>
              <a:t>Presentation file (PPT or PDF) (Y — this file)</a:t>
            </a:r>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lstStyle/>
          <a:p>
            <a:pPr marL="0" indent="0">
              <a:buNone/>
            </a:pPr>
            <a:r>
              <a:rPr lang="en-US" sz="4600" b="1" dirty="0">
                <a:solidFill>
                  <a:srgbClr val="14142B"/>
                </a:solidFill>
                <a:latin typeface="Arial" pitchFamily="34" charset="0"/>
                <a:ea typeface="Arial" pitchFamily="34" charset="-122"/>
                <a:cs typeface="Arial" pitchFamily="34" charset="-120"/>
              </a:rPr>
              <a:t>Thank you</a:t>
            </a:r>
            <a:endParaRPr lang="en-US" sz="4600" dirty="0"/>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65</TotalTime>
  <Words>266</Words>
  <Application>Microsoft Office PowerPoint</Application>
  <PresentationFormat>Widescreen</PresentationFormat>
  <Paragraphs>32</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Binny Lakra/PRISM /SRI-Bangalore/Professional/Samsung Electronics</cp:lastModifiedBy>
  <cp:revision>6</cp:revision>
  <dcterms:created xsi:type="dcterms:W3CDTF">2026-09-07T12:01:01Z</dcterms:created>
  <dcterms:modified xsi:type="dcterms:W3CDTF">2026-09-08T10:03:30Z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