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Override1.xml" ContentType="application/vnd.openxmlformats-officedocument.themeOverrid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4"/>
  </p:notesMasterIdLst>
  <p:sldIdLst>
    <p:sldId id="257" r:id="rId2"/>
    <p:sldId id="258" r:id="rId3"/>
    <p:sldId id="259" r:id="rId4"/>
    <p:sldId id="260" r:id="rId5"/>
    <p:sldId id="261" r:id="rId6"/>
    <p:sldId id="262" r:id="rId7"/>
    <p:sldId id="263" r:id="rId8"/>
    <p:sldId id="264" r:id="rId9"/>
    <p:sldId id="265" r:id="rId10"/>
    <p:sldId id="266" r:id="rId11"/>
    <p:sldId id="271" r:id="rId12"/>
    <p:sldId id="270"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704EA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85" d="100"/>
          <a:sy n="85" d="100"/>
        </p:scale>
        <p:origin x="590" y="5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2CE9A8C-3F50-49F8-A835-316C22A1110D}" type="datetimeFigureOut">
              <a:rPr lang="en-IN" smtClean="0"/>
              <a:t>08-09-2026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F3343F9-2D09-4642-A3BD-5BF627A067F3}" type="slidenum">
              <a:rPr lang="en-IN" smtClean="0"/>
              <a:t>‹#›</a:t>
            </a:fld>
            <a:endParaRPr lang="en-IN"/>
          </a:p>
        </p:txBody>
      </p:sp>
    </p:spTree>
    <p:extLst>
      <p:ext uri="{BB962C8B-B14F-4D97-AF65-F5344CB8AC3E}">
        <p14:creationId xmlns:p14="http://schemas.microsoft.com/office/powerpoint/2010/main" val="56916316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slide for the 3rd edition of the PRISM Generative AI Hackathon. Replace the SAMSUNG PRISM pill with the official PRISM logo image if you have the asset. Confirm the academic year label (2026-27) before circulating.</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Closing slide. Add the Google Form URL and a contact email before sharing. Edition 2 organising team for reference: Language AI - Sourabh Tiwari, Gaurav, Sanjeeth Pothireddy, Gorang Maniar; PRISM - Binny Lakra, Prakhar Chandrakar, Vishu Kumar; Kick-off and mentors - Giridhar Jakki, Deepraj Prabhakar Patkar (Language AI), Srimanu Prasad Nagaraju, Ashish Kumar (Tech Strategy).</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2CFE64-7CE6-4299-B8FE-939866A3EB6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09E4360C-492F-4E2E-B967-599B2BD31D7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56870CDB-78C3-4602-B35C-A826CBF20916}"/>
              </a:ext>
            </a:extLst>
          </p:cNvPr>
          <p:cNvSpPr>
            <a:spLocks noGrp="1"/>
          </p:cNvSpPr>
          <p:nvPr>
            <p:ph type="dt" sz="half" idx="10"/>
          </p:nvPr>
        </p:nvSpPr>
        <p:spPr/>
        <p:txBody>
          <a:bodyPr/>
          <a:lstStyle/>
          <a:p>
            <a:fld id="{2AF27EEE-1B67-445E-AA5D-351EC91D1DEB}" type="datetimeFigureOut">
              <a:rPr lang="en-IN" smtClean="0"/>
              <a:t>08-09-2026</a:t>
            </a:fld>
            <a:endParaRPr lang="en-IN"/>
          </a:p>
        </p:txBody>
      </p:sp>
      <p:sp>
        <p:nvSpPr>
          <p:cNvPr id="5" name="Footer Placeholder 4">
            <a:extLst>
              <a:ext uri="{FF2B5EF4-FFF2-40B4-BE49-F238E27FC236}">
                <a16:creationId xmlns:a16="http://schemas.microsoft.com/office/drawing/2014/main" id="{F585EF81-E96A-4C8D-A4F0-A9DF05C49CC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9FA2448-68BE-42AE-8001-48ECE62DC431}"/>
              </a:ext>
            </a:extLst>
          </p:cNvPr>
          <p:cNvSpPr>
            <a:spLocks noGrp="1"/>
          </p:cNvSpPr>
          <p:nvPr>
            <p:ph type="sldNum" sz="quarter" idx="12"/>
          </p:nvPr>
        </p:nvSpPr>
        <p:spPr/>
        <p:txBody>
          <a:bodyPr/>
          <a:lstStyle/>
          <a:p>
            <a:fld id="{BF5B04A4-2082-4D7E-8466-9BA22C990A78}" type="slidenum">
              <a:rPr lang="en-IN" smtClean="0"/>
              <a:t>‹#›</a:t>
            </a:fld>
            <a:endParaRPr lang="en-IN"/>
          </a:p>
        </p:txBody>
      </p:sp>
    </p:spTree>
    <p:extLst>
      <p:ext uri="{BB962C8B-B14F-4D97-AF65-F5344CB8AC3E}">
        <p14:creationId xmlns:p14="http://schemas.microsoft.com/office/powerpoint/2010/main" val="355120668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2C5E08-CE8A-45BE-8C3E-C04A49CC8A66}"/>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65FCCB0C-95AB-4F7A-955D-2DC18750BFD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E96DA85-2FDE-4136-B9F6-AF0965475E5A}"/>
              </a:ext>
            </a:extLst>
          </p:cNvPr>
          <p:cNvSpPr>
            <a:spLocks noGrp="1"/>
          </p:cNvSpPr>
          <p:nvPr>
            <p:ph type="dt" sz="half" idx="10"/>
          </p:nvPr>
        </p:nvSpPr>
        <p:spPr/>
        <p:txBody>
          <a:bodyPr/>
          <a:lstStyle/>
          <a:p>
            <a:fld id="{2AF27EEE-1B67-445E-AA5D-351EC91D1DEB}" type="datetimeFigureOut">
              <a:rPr lang="en-IN" smtClean="0"/>
              <a:t>08-09-2026</a:t>
            </a:fld>
            <a:endParaRPr lang="en-IN"/>
          </a:p>
        </p:txBody>
      </p:sp>
      <p:sp>
        <p:nvSpPr>
          <p:cNvPr id="5" name="Footer Placeholder 4">
            <a:extLst>
              <a:ext uri="{FF2B5EF4-FFF2-40B4-BE49-F238E27FC236}">
                <a16:creationId xmlns:a16="http://schemas.microsoft.com/office/drawing/2014/main" id="{299B0367-ACE7-48B9-82C8-A7BFD1F98E9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C09A210-6017-4F71-9E78-B2C329B4A7E3}"/>
              </a:ext>
            </a:extLst>
          </p:cNvPr>
          <p:cNvSpPr>
            <a:spLocks noGrp="1"/>
          </p:cNvSpPr>
          <p:nvPr>
            <p:ph type="sldNum" sz="quarter" idx="12"/>
          </p:nvPr>
        </p:nvSpPr>
        <p:spPr/>
        <p:txBody>
          <a:bodyPr/>
          <a:lstStyle/>
          <a:p>
            <a:fld id="{BF5B04A4-2082-4D7E-8466-9BA22C990A78}" type="slidenum">
              <a:rPr lang="en-IN" smtClean="0"/>
              <a:t>‹#›</a:t>
            </a:fld>
            <a:endParaRPr lang="en-IN"/>
          </a:p>
        </p:txBody>
      </p:sp>
    </p:spTree>
    <p:extLst>
      <p:ext uri="{BB962C8B-B14F-4D97-AF65-F5344CB8AC3E}">
        <p14:creationId xmlns:p14="http://schemas.microsoft.com/office/powerpoint/2010/main" val="315812476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AE6C5-6752-4963-B842-280808B201D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2FEA6DFC-697D-4605-86C0-8572E022BEC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A341469-A18C-498E-BACC-28BCBFE904BB}"/>
              </a:ext>
            </a:extLst>
          </p:cNvPr>
          <p:cNvSpPr>
            <a:spLocks noGrp="1"/>
          </p:cNvSpPr>
          <p:nvPr>
            <p:ph type="dt" sz="half" idx="10"/>
          </p:nvPr>
        </p:nvSpPr>
        <p:spPr/>
        <p:txBody>
          <a:bodyPr/>
          <a:lstStyle/>
          <a:p>
            <a:fld id="{2AF27EEE-1B67-445E-AA5D-351EC91D1DEB}" type="datetimeFigureOut">
              <a:rPr lang="en-IN" smtClean="0"/>
              <a:t>08-09-2026</a:t>
            </a:fld>
            <a:endParaRPr lang="en-IN"/>
          </a:p>
        </p:txBody>
      </p:sp>
      <p:sp>
        <p:nvSpPr>
          <p:cNvPr id="5" name="Footer Placeholder 4">
            <a:extLst>
              <a:ext uri="{FF2B5EF4-FFF2-40B4-BE49-F238E27FC236}">
                <a16:creationId xmlns:a16="http://schemas.microsoft.com/office/drawing/2014/main" id="{FAED5D3B-1983-426F-A1AE-7470C43BB0E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135ABB1-45F2-4FEA-BB5A-3B053892DBC7}"/>
              </a:ext>
            </a:extLst>
          </p:cNvPr>
          <p:cNvSpPr>
            <a:spLocks noGrp="1"/>
          </p:cNvSpPr>
          <p:nvPr>
            <p:ph type="sldNum" sz="quarter" idx="12"/>
          </p:nvPr>
        </p:nvSpPr>
        <p:spPr/>
        <p:txBody>
          <a:bodyPr/>
          <a:lstStyle/>
          <a:p>
            <a:fld id="{BF5B04A4-2082-4D7E-8466-9BA22C990A78}" type="slidenum">
              <a:rPr lang="en-IN" smtClean="0"/>
              <a:t>‹#›</a:t>
            </a:fld>
            <a:endParaRPr lang="en-IN"/>
          </a:p>
        </p:txBody>
      </p:sp>
    </p:spTree>
    <p:extLst>
      <p:ext uri="{BB962C8B-B14F-4D97-AF65-F5344CB8AC3E}">
        <p14:creationId xmlns:p14="http://schemas.microsoft.com/office/powerpoint/2010/main" val="102653012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A3F4AE-F142-401B-A5D1-4A52FF92CA0A}"/>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BC7C9BD1-2876-4C52-83CF-1CBA9D931B3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6CE624D8-76A7-478F-ACA3-5749DEFD0E0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0F29A939-0957-4E96-B38D-0B2E39D4137F}"/>
              </a:ext>
            </a:extLst>
          </p:cNvPr>
          <p:cNvSpPr>
            <a:spLocks noGrp="1"/>
          </p:cNvSpPr>
          <p:nvPr>
            <p:ph type="dt" sz="half" idx="10"/>
          </p:nvPr>
        </p:nvSpPr>
        <p:spPr/>
        <p:txBody>
          <a:bodyPr/>
          <a:lstStyle/>
          <a:p>
            <a:fld id="{2AF27EEE-1B67-445E-AA5D-351EC91D1DEB}" type="datetimeFigureOut">
              <a:rPr lang="en-IN" smtClean="0"/>
              <a:t>08-09-2026</a:t>
            </a:fld>
            <a:endParaRPr lang="en-IN"/>
          </a:p>
        </p:txBody>
      </p:sp>
      <p:sp>
        <p:nvSpPr>
          <p:cNvPr id="6" name="Footer Placeholder 5">
            <a:extLst>
              <a:ext uri="{FF2B5EF4-FFF2-40B4-BE49-F238E27FC236}">
                <a16:creationId xmlns:a16="http://schemas.microsoft.com/office/drawing/2014/main" id="{C89D44E1-B8BA-490F-B30A-538CC4D48FF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9184BB79-7CA5-414E-B5B6-6A8E9AEE4A94}"/>
              </a:ext>
            </a:extLst>
          </p:cNvPr>
          <p:cNvSpPr>
            <a:spLocks noGrp="1"/>
          </p:cNvSpPr>
          <p:nvPr>
            <p:ph type="sldNum" sz="quarter" idx="12"/>
          </p:nvPr>
        </p:nvSpPr>
        <p:spPr/>
        <p:txBody>
          <a:bodyPr/>
          <a:lstStyle/>
          <a:p>
            <a:fld id="{BF5B04A4-2082-4D7E-8466-9BA22C990A78}" type="slidenum">
              <a:rPr lang="en-IN" smtClean="0"/>
              <a:t>‹#›</a:t>
            </a:fld>
            <a:endParaRPr lang="en-IN"/>
          </a:p>
        </p:txBody>
      </p:sp>
    </p:spTree>
    <p:extLst>
      <p:ext uri="{BB962C8B-B14F-4D97-AF65-F5344CB8AC3E}">
        <p14:creationId xmlns:p14="http://schemas.microsoft.com/office/powerpoint/2010/main" val="27435428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586CE8-8BA4-4FB1-ACAA-E38F8ED7F745}"/>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A2570902-F321-482A-924A-FF9A87CA5D6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85B6F67-E437-4FE8-851B-B016F33CFE9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37CE7897-2D17-49F8-8762-68F8D5794FB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63AE8E8-43BB-400D-8934-6D6B21D3A58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2FDB6608-03F3-45EF-80BD-C6E305C07128}"/>
              </a:ext>
            </a:extLst>
          </p:cNvPr>
          <p:cNvSpPr>
            <a:spLocks noGrp="1"/>
          </p:cNvSpPr>
          <p:nvPr>
            <p:ph type="dt" sz="half" idx="10"/>
          </p:nvPr>
        </p:nvSpPr>
        <p:spPr/>
        <p:txBody>
          <a:bodyPr/>
          <a:lstStyle/>
          <a:p>
            <a:fld id="{2AF27EEE-1B67-445E-AA5D-351EC91D1DEB}" type="datetimeFigureOut">
              <a:rPr lang="en-IN" smtClean="0"/>
              <a:t>08-09-2026</a:t>
            </a:fld>
            <a:endParaRPr lang="en-IN"/>
          </a:p>
        </p:txBody>
      </p:sp>
      <p:sp>
        <p:nvSpPr>
          <p:cNvPr id="8" name="Footer Placeholder 7">
            <a:extLst>
              <a:ext uri="{FF2B5EF4-FFF2-40B4-BE49-F238E27FC236}">
                <a16:creationId xmlns:a16="http://schemas.microsoft.com/office/drawing/2014/main" id="{E665D75D-3AD4-4D0E-A5BC-9000973FD8E7}"/>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7706A546-DC61-467F-A112-3AC0277BB9A8}"/>
              </a:ext>
            </a:extLst>
          </p:cNvPr>
          <p:cNvSpPr>
            <a:spLocks noGrp="1"/>
          </p:cNvSpPr>
          <p:nvPr>
            <p:ph type="sldNum" sz="quarter" idx="12"/>
          </p:nvPr>
        </p:nvSpPr>
        <p:spPr/>
        <p:txBody>
          <a:bodyPr/>
          <a:lstStyle/>
          <a:p>
            <a:fld id="{BF5B04A4-2082-4D7E-8466-9BA22C990A78}" type="slidenum">
              <a:rPr lang="en-IN" smtClean="0"/>
              <a:t>‹#›</a:t>
            </a:fld>
            <a:endParaRPr lang="en-IN"/>
          </a:p>
        </p:txBody>
      </p:sp>
    </p:spTree>
    <p:extLst>
      <p:ext uri="{BB962C8B-B14F-4D97-AF65-F5344CB8AC3E}">
        <p14:creationId xmlns:p14="http://schemas.microsoft.com/office/powerpoint/2010/main" val="317166924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CC8549-E392-4F05-B762-B5370E51C922}"/>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C1059880-A67D-4A24-9138-E937AE75075F}"/>
              </a:ext>
            </a:extLst>
          </p:cNvPr>
          <p:cNvSpPr>
            <a:spLocks noGrp="1"/>
          </p:cNvSpPr>
          <p:nvPr>
            <p:ph type="dt" sz="half" idx="10"/>
          </p:nvPr>
        </p:nvSpPr>
        <p:spPr/>
        <p:txBody>
          <a:bodyPr/>
          <a:lstStyle/>
          <a:p>
            <a:fld id="{2AF27EEE-1B67-445E-AA5D-351EC91D1DEB}" type="datetimeFigureOut">
              <a:rPr lang="en-IN" smtClean="0"/>
              <a:t>08-09-2026</a:t>
            </a:fld>
            <a:endParaRPr lang="en-IN"/>
          </a:p>
        </p:txBody>
      </p:sp>
      <p:sp>
        <p:nvSpPr>
          <p:cNvPr id="4" name="Footer Placeholder 3">
            <a:extLst>
              <a:ext uri="{FF2B5EF4-FFF2-40B4-BE49-F238E27FC236}">
                <a16:creationId xmlns:a16="http://schemas.microsoft.com/office/drawing/2014/main" id="{01BF6EC7-BFAB-4137-9343-C66B7829AB57}"/>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8FA6B929-B579-4261-8171-35357AE9A33C}"/>
              </a:ext>
            </a:extLst>
          </p:cNvPr>
          <p:cNvSpPr>
            <a:spLocks noGrp="1"/>
          </p:cNvSpPr>
          <p:nvPr>
            <p:ph type="sldNum" sz="quarter" idx="12"/>
          </p:nvPr>
        </p:nvSpPr>
        <p:spPr/>
        <p:txBody>
          <a:bodyPr/>
          <a:lstStyle/>
          <a:p>
            <a:fld id="{BF5B04A4-2082-4D7E-8466-9BA22C990A78}" type="slidenum">
              <a:rPr lang="en-IN" smtClean="0"/>
              <a:t>‹#›</a:t>
            </a:fld>
            <a:endParaRPr lang="en-IN"/>
          </a:p>
        </p:txBody>
      </p:sp>
    </p:spTree>
    <p:extLst>
      <p:ext uri="{BB962C8B-B14F-4D97-AF65-F5344CB8AC3E}">
        <p14:creationId xmlns:p14="http://schemas.microsoft.com/office/powerpoint/2010/main" val="233729450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CBAFEDF-BA35-4A7C-9388-604C048D57D0}"/>
              </a:ext>
            </a:extLst>
          </p:cNvPr>
          <p:cNvSpPr>
            <a:spLocks noGrp="1"/>
          </p:cNvSpPr>
          <p:nvPr>
            <p:ph type="dt" sz="half" idx="10"/>
          </p:nvPr>
        </p:nvSpPr>
        <p:spPr/>
        <p:txBody>
          <a:bodyPr/>
          <a:lstStyle/>
          <a:p>
            <a:fld id="{2AF27EEE-1B67-445E-AA5D-351EC91D1DEB}" type="datetimeFigureOut">
              <a:rPr lang="en-IN" smtClean="0"/>
              <a:t>08-09-2026</a:t>
            </a:fld>
            <a:endParaRPr lang="en-IN"/>
          </a:p>
        </p:txBody>
      </p:sp>
      <p:sp>
        <p:nvSpPr>
          <p:cNvPr id="3" name="Footer Placeholder 2">
            <a:extLst>
              <a:ext uri="{FF2B5EF4-FFF2-40B4-BE49-F238E27FC236}">
                <a16:creationId xmlns:a16="http://schemas.microsoft.com/office/drawing/2014/main" id="{11C80271-5700-43CC-A9BA-B2AAB47B2145}"/>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7EA712EA-BE6D-4AE5-B09E-215DE5B0EE93}"/>
              </a:ext>
            </a:extLst>
          </p:cNvPr>
          <p:cNvSpPr>
            <a:spLocks noGrp="1"/>
          </p:cNvSpPr>
          <p:nvPr>
            <p:ph type="sldNum" sz="quarter" idx="12"/>
          </p:nvPr>
        </p:nvSpPr>
        <p:spPr/>
        <p:txBody>
          <a:bodyPr/>
          <a:lstStyle/>
          <a:p>
            <a:fld id="{BF5B04A4-2082-4D7E-8466-9BA22C990A78}" type="slidenum">
              <a:rPr lang="en-IN" smtClean="0"/>
              <a:t>‹#›</a:t>
            </a:fld>
            <a:endParaRPr lang="en-IN"/>
          </a:p>
        </p:txBody>
      </p:sp>
    </p:spTree>
    <p:extLst>
      <p:ext uri="{BB962C8B-B14F-4D97-AF65-F5344CB8AC3E}">
        <p14:creationId xmlns:p14="http://schemas.microsoft.com/office/powerpoint/2010/main" val="175907212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2A6235-A416-4C23-BE8E-8FC1CF0EC17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B4A2C36B-7DDF-4371-9F0A-6E5B64554F5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813FA19A-E15E-47EA-B9B9-5F7FD0AA0B7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9E84724-CA93-4332-A03F-0909AC5249AD}"/>
              </a:ext>
            </a:extLst>
          </p:cNvPr>
          <p:cNvSpPr>
            <a:spLocks noGrp="1"/>
          </p:cNvSpPr>
          <p:nvPr>
            <p:ph type="dt" sz="half" idx="10"/>
          </p:nvPr>
        </p:nvSpPr>
        <p:spPr/>
        <p:txBody>
          <a:bodyPr/>
          <a:lstStyle/>
          <a:p>
            <a:fld id="{2AF27EEE-1B67-445E-AA5D-351EC91D1DEB}" type="datetimeFigureOut">
              <a:rPr lang="en-IN" smtClean="0"/>
              <a:t>08-09-2026</a:t>
            </a:fld>
            <a:endParaRPr lang="en-IN"/>
          </a:p>
        </p:txBody>
      </p:sp>
      <p:sp>
        <p:nvSpPr>
          <p:cNvPr id="6" name="Footer Placeholder 5">
            <a:extLst>
              <a:ext uri="{FF2B5EF4-FFF2-40B4-BE49-F238E27FC236}">
                <a16:creationId xmlns:a16="http://schemas.microsoft.com/office/drawing/2014/main" id="{E403302F-D853-499A-BB91-3BD5366E677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234AD427-BF9D-4A47-AF08-E4983B90C65A}"/>
              </a:ext>
            </a:extLst>
          </p:cNvPr>
          <p:cNvSpPr>
            <a:spLocks noGrp="1"/>
          </p:cNvSpPr>
          <p:nvPr>
            <p:ph type="sldNum" sz="quarter" idx="12"/>
          </p:nvPr>
        </p:nvSpPr>
        <p:spPr/>
        <p:txBody>
          <a:bodyPr/>
          <a:lstStyle/>
          <a:p>
            <a:fld id="{BF5B04A4-2082-4D7E-8466-9BA22C990A78}" type="slidenum">
              <a:rPr lang="en-IN" smtClean="0"/>
              <a:t>‹#›</a:t>
            </a:fld>
            <a:endParaRPr lang="en-IN"/>
          </a:p>
        </p:txBody>
      </p:sp>
    </p:spTree>
    <p:extLst>
      <p:ext uri="{BB962C8B-B14F-4D97-AF65-F5344CB8AC3E}">
        <p14:creationId xmlns:p14="http://schemas.microsoft.com/office/powerpoint/2010/main" val="404118808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C1B540-7747-44F5-A3A4-69F051F3632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FA4392B5-0943-4B18-9708-C9FA86F8353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547DFA04-BB4C-4DC0-9831-EB32549F5EA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101BDBD-01E1-44D7-AB93-513FF196A2C4}"/>
              </a:ext>
            </a:extLst>
          </p:cNvPr>
          <p:cNvSpPr>
            <a:spLocks noGrp="1"/>
          </p:cNvSpPr>
          <p:nvPr>
            <p:ph type="dt" sz="half" idx="10"/>
          </p:nvPr>
        </p:nvSpPr>
        <p:spPr/>
        <p:txBody>
          <a:bodyPr/>
          <a:lstStyle/>
          <a:p>
            <a:fld id="{2AF27EEE-1B67-445E-AA5D-351EC91D1DEB}" type="datetimeFigureOut">
              <a:rPr lang="en-IN" smtClean="0"/>
              <a:t>08-09-2026</a:t>
            </a:fld>
            <a:endParaRPr lang="en-IN"/>
          </a:p>
        </p:txBody>
      </p:sp>
      <p:sp>
        <p:nvSpPr>
          <p:cNvPr id="6" name="Footer Placeholder 5">
            <a:extLst>
              <a:ext uri="{FF2B5EF4-FFF2-40B4-BE49-F238E27FC236}">
                <a16:creationId xmlns:a16="http://schemas.microsoft.com/office/drawing/2014/main" id="{D87D7BDB-9CCD-44F3-A4FB-D4BAE589BE3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ABC8D8A-A70C-4D57-8271-DCF5EEFC33AE}"/>
              </a:ext>
            </a:extLst>
          </p:cNvPr>
          <p:cNvSpPr>
            <a:spLocks noGrp="1"/>
          </p:cNvSpPr>
          <p:nvPr>
            <p:ph type="sldNum" sz="quarter" idx="12"/>
          </p:nvPr>
        </p:nvSpPr>
        <p:spPr/>
        <p:txBody>
          <a:bodyPr/>
          <a:lstStyle/>
          <a:p>
            <a:fld id="{BF5B04A4-2082-4D7E-8466-9BA22C990A78}" type="slidenum">
              <a:rPr lang="en-IN" smtClean="0"/>
              <a:t>‹#›</a:t>
            </a:fld>
            <a:endParaRPr lang="en-IN"/>
          </a:p>
        </p:txBody>
      </p:sp>
    </p:spTree>
    <p:extLst>
      <p:ext uri="{BB962C8B-B14F-4D97-AF65-F5344CB8AC3E}">
        <p14:creationId xmlns:p14="http://schemas.microsoft.com/office/powerpoint/2010/main" val="21223624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5A63EB-C66D-4D2D-9928-25D57CFDCDD2}"/>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3D91A17B-5319-4265-82A2-5D286CFAFD8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E972F85-7902-4426-947E-3509F7A06CB1}"/>
              </a:ext>
            </a:extLst>
          </p:cNvPr>
          <p:cNvSpPr>
            <a:spLocks noGrp="1"/>
          </p:cNvSpPr>
          <p:nvPr>
            <p:ph type="dt" sz="half" idx="10"/>
          </p:nvPr>
        </p:nvSpPr>
        <p:spPr/>
        <p:txBody>
          <a:bodyPr/>
          <a:lstStyle/>
          <a:p>
            <a:fld id="{2AF27EEE-1B67-445E-AA5D-351EC91D1DEB}" type="datetimeFigureOut">
              <a:rPr lang="en-IN" smtClean="0"/>
              <a:t>08-09-2026</a:t>
            </a:fld>
            <a:endParaRPr lang="en-IN"/>
          </a:p>
        </p:txBody>
      </p:sp>
      <p:sp>
        <p:nvSpPr>
          <p:cNvPr id="5" name="Footer Placeholder 4">
            <a:extLst>
              <a:ext uri="{FF2B5EF4-FFF2-40B4-BE49-F238E27FC236}">
                <a16:creationId xmlns:a16="http://schemas.microsoft.com/office/drawing/2014/main" id="{FD08658F-7DA3-40F3-B6FA-CF740F858EB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F6B0DE9-130B-4DA8-9A0C-06A295C9D82C}"/>
              </a:ext>
            </a:extLst>
          </p:cNvPr>
          <p:cNvSpPr>
            <a:spLocks noGrp="1"/>
          </p:cNvSpPr>
          <p:nvPr>
            <p:ph type="sldNum" sz="quarter" idx="12"/>
          </p:nvPr>
        </p:nvSpPr>
        <p:spPr/>
        <p:txBody>
          <a:bodyPr/>
          <a:lstStyle/>
          <a:p>
            <a:fld id="{BF5B04A4-2082-4D7E-8466-9BA22C990A78}" type="slidenum">
              <a:rPr lang="en-IN" smtClean="0"/>
              <a:t>‹#›</a:t>
            </a:fld>
            <a:endParaRPr lang="en-IN"/>
          </a:p>
        </p:txBody>
      </p:sp>
    </p:spTree>
    <p:extLst>
      <p:ext uri="{BB962C8B-B14F-4D97-AF65-F5344CB8AC3E}">
        <p14:creationId xmlns:p14="http://schemas.microsoft.com/office/powerpoint/2010/main" val="348195054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54594E2-CBC8-4A0C-A110-E3B5A301CF62}"/>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8CFBD2EA-CB7C-4CAB-855D-57F79191044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D2348B0-3CBB-41FA-A8EC-5DFC833D7ECD}"/>
              </a:ext>
            </a:extLst>
          </p:cNvPr>
          <p:cNvSpPr>
            <a:spLocks noGrp="1"/>
          </p:cNvSpPr>
          <p:nvPr>
            <p:ph type="dt" sz="half" idx="10"/>
          </p:nvPr>
        </p:nvSpPr>
        <p:spPr/>
        <p:txBody>
          <a:bodyPr/>
          <a:lstStyle/>
          <a:p>
            <a:fld id="{2AF27EEE-1B67-445E-AA5D-351EC91D1DEB}" type="datetimeFigureOut">
              <a:rPr lang="en-IN" smtClean="0"/>
              <a:t>08-09-2026</a:t>
            </a:fld>
            <a:endParaRPr lang="en-IN"/>
          </a:p>
        </p:txBody>
      </p:sp>
      <p:sp>
        <p:nvSpPr>
          <p:cNvPr id="5" name="Footer Placeholder 4">
            <a:extLst>
              <a:ext uri="{FF2B5EF4-FFF2-40B4-BE49-F238E27FC236}">
                <a16:creationId xmlns:a16="http://schemas.microsoft.com/office/drawing/2014/main" id="{1A7E08DA-D399-4DC8-89B1-C4EBC64DC98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FDA6177-D647-4C5F-BA43-C02A1390F473}"/>
              </a:ext>
            </a:extLst>
          </p:cNvPr>
          <p:cNvSpPr>
            <a:spLocks noGrp="1"/>
          </p:cNvSpPr>
          <p:nvPr>
            <p:ph type="sldNum" sz="quarter" idx="12"/>
          </p:nvPr>
        </p:nvSpPr>
        <p:spPr/>
        <p:txBody>
          <a:bodyPr/>
          <a:lstStyle/>
          <a:p>
            <a:fld id="{BF5B04A4-2082-4D7E-8466-9BA22C990A78}" type="slidenum">
              <a:rPr lang="en-IN" smtClean="0"/>
              <a:t>‹#›</a:t>
            </a:fld>
            <a:endParaRPr lang="en-IN"/>
          </a:p>
        </p:txBody>
      </p:sp>
    </p:spTree>
    <p:extLst>
      <p:ext uri="{BB962C8B-B14F-4D97-AF65-F5344CB8AC3E}">
        <p14:creationId xmlns:p14="http://schemas.microsoft.com/office/powerpoint/2010/main" val="81468705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2463450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CE67A62-7E64-4BE9-8EDF-4904E871A04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F8CA73B9-1A82-4479-978C-9C873CC677B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9977FC6-3D78-48A7-A3DB-BFC7C0EA3E8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AF27EEE-1B67-445E-AA5D-351EC91D1DEB}" type="datetimeFigureOut">
              <a:rPr lang="en-IN" smtClean="0"/>
              <a:t>08-09-2026</a:t>
            </a:fld>
            <a:endParaRPr lang="en-IN"/>
          </a:p>
        </p:txBody>
      </p:sp>
      <p:sp>
        <p:nvSpPr>
          <p:cNvPr id="5" name="Footer Placeholder 4">
            <a:extLst>
              <a:ext uri="{FF2B5EF4-FFF2-40B4-BE49-F238E27FC236}">
                <a16:creationId xmlns:a16="http://schemas.microsoft.com/office/drawing/2014/main" id="{27CDC877-1137-446E-919A-C66E313317C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8A258D39-C9B6-4DA9-9C05-38A0ECD4CE4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F5B04A4-2082-4D7E-8466-9BA22C990A78}" type="slidenum">
              <a:rPr lang="en-IN" smtClean="0"/>
              <a:t>‹#›</a:t>
            </a:fld>
            <a:endParaRPr lang="en-IN"/>
          </a:p>
        </p:txBody>
      </p:sp>
    </p:spTree>
    <p:extLst>
      <p:ext uri="{BB962C8B-B14F-4D97-AF65-F5344CB8AC3E}">
        <p14:creationId xmlns:p14="http://schemas.microsoft.com/office/powerpoint/2010/main" val="327917824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themeOverride" Target="../theme/themeOverride1.xml"/><Relationship Id="rId2"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777240" y="676656"/>
            <a:ext cx="2423160" cy="347472"/>
          </a:xfrm>
          <a:prstGeom prst="roundRect">
            <a:avLst>
              <a:gd name="adj" fmla="val 50000"/>
            </a:avLst>
          </a:prstGeom>
          <a:solidFill>
            <a:srgbClr val="FFFFFF"/>
          </a:solidFill>
          <a:ln w="12700">
            <a:solidFill>
              <a:srgbClr val="D9D3F0"/>
            </a:solidFill>
            <a:prstDash val="solid"/>
          </a:ln>
        </p:spPr>
        <p:txBody>
          <a:bodyPr/>
          <a:p/>
        </p:txBody>
      </p:sp>
      <p:sp>
        <p:nvSpPr>
          <p:cNvPr id="3" name="Text 1"/>
          <p:cNvSpPr txBox="1"/>
          <p:nvPr/>
        </p:nvSpPr>
        <p:spPr>
          <a:xfrm>
            <a:off x="777240" y="676656"/>
            <a:ext cx="2423160" cy="347472"/>
          </a:xfrm>
          <a:prstGeom prst="rect">
            <a:avLst/>
          </a:prstGeom>
          <a:noFill/>
          <a:ln/>
        </p:spPr>
        <p:txBody>
          <a:bodyPr wrap="square" lIns="0" tIns="0" rIns="0" bIns="0" rtlCol="0" anchor="ctr"/>
          <a:lstStyle/>
          <a:p>
            <a:pPr marL="0" indent="0" algn="ctr">
              <a:buNone/>
            </a:pPr>
            <a:r>
              <a:rPr lang="en-US" sz="1100" b="1" kern="0" spc="110" dirty="0">
                <a:solidFill>
                  <a:srgbClr val="6D28D9"/>
                </a:solidFill>
                <a:latin typeface="Arial" pitchFamily="34" charset="0"/>
                <a:ea typeface="Arial" pitchFamily="34" charset="-122"/>
                <a:cs typeface="Arial" pitchFamily="34" charset="-120"/>
              </a:rPr>
              <a:t>SAMSUNG PRISM</a:t>
            </a:r>
            <a:endParaRPr lang="en-US" sz="1100" dirty="0"/>
          </a:p>
        </p:txBody>
      </p:sp>
      <p:sp>
        <p:nvSpPr>
          <p:cNvPr id="4" name="Text 2"/>
          <p:cNvSpPr txBox="1"/>
          <p:nvPr/>
        </p:nvSpPr>
        <p:spPr>
          <a:xfrm>
            <a:off x="777240" y="1207008"/>
            <a:ext cx="6126480" cy="749808"/>
          </a:xfrm>
          <a:prstGeom prst="rect">
            <a:avLst/>
          </a:prstGeom>
          <a:noFill/>
          <a:ln/>
        </p:spPr>
        <p:txBody>
          <a:bodyPr wrap="square" lIns="0" tIns="0" rIns="0" bIns="0" rtlCol="0" anchor="ctr"/>
          <a:lstStyle/>
          <a:p>
            <a:pPr marL="0" indent="0">
              <a:buNone/>
            </a:pPr>
            <a:r>
              <a:rPr lang="en-US" sz="5000" b="1" dirty="0">
                <a:solidFill>
                  <a:srgbClr val="14142B"/>
                </a:solidFill>
                <a:latin typeface="Arial" pitchFamily="34" charset="0"/>
                <a:ea typeface="Arial" pitchFamily="34" charset="-122"/>
                <a:cs typeface="Arial" pitchFamily="34" charset="-120"/>
              </a:rPr>
              <a:t>Generative AI</a:t>
            </a:r>
            <a:endParaRPr lang="en-US" sz="5000" dirty="0"/>
          </a:p>
        </p:txBody>
      </p:sp>
      <p:sp>
        <p:nvSpPr>
          <p:cNvPr id="5" name="Text 3"/>
          <p:cNvSpPr txBox="1"/>
          <p:nvPr/>
        </p:nvSpPr>
        <p:spPr>
          <a:xfrm>
            <a:off x="777240" y="1901952"/>
            <a:ext cx="6126480" cy="749808"/>
          </a:xfrm>
          <a:prstGeom prst="rect">
            <a:avLst/>
          </a:prstGeom>
          <a:noFill/>
          <a:ln/>
        </p:spPr>
        <p:txBody>
          <a:bodyPr wrap="square" lIns="0" tIns="0" rIns="0" bIns="0" rtlCol="0" anchor="ctr"/>
          <a:lstStyle/>
          <a:p>
            <a:pPr marL="0" indent="0">
              <a:buNone/>
            </a:pPr>
            <a:r>
              <a:rPr lang="en-US" sz="5000" b="1" dirty="0">
                <a:solidFill>
                  <a:srgbClr val="6D28D9"/>
                </a:solidFill>
                <a:latin typeface="Arial" pitchFamily="34" charset="0"/>
                <a:ea typeface="Arial" pitchFamily="34" charset="-122"/>
                <a:cs typeface="Arial" pitchFamily="34" charset="-120"/>
              </a:rPr>
              <a:t>Hackathon</a:t>
            </a:r>
            <a:endParaRPr lang="en-US" sz="5000" dirty="0"/>
          </a:p>
        </p:txBody>
      </p:sp>
      <p:sp>
        <p:nvSpPr>
          <p:cNvPr id="6" name="Text 4"/>
          <p:cNvSpPr txBox="1"/>
          <p:nvPr/>
        </p:nvSpPr>
        <p:spPr>
          <a:xfrm>
            <a:off x="777240" y="2724912"/>
            <a:ext cx="6126480" cy="457200"/>
          </a:xfrm>
          <a:prstGeom prst="rect">
            <a:avLst/>
          </a:prstGeom>
          <a:noFill/>
          <a:ln/>
        </p:spPr>
        <p:txBody>
          <a:bodyPr wrap="square" lIns="0" tIns="0" rIns="0" bIns="0" rtlCol="0" anchor="ctr"/>
          <a:lstStyle/>
          <a:p>
            <a:pPr marL="0" indent="0">
              <a:buNone/>
            </a:pPr>
            <a:r>
              <a:rPr lang="en-US" sz="2500" b="1" dirty="0">
                <a:solidFill>
                  <a:srgbClr val="14142B"/>
                </a:solidFill>
                <a:latin typeface="Arial" pitchFamily="34" charset="0"/>
                <a:ea typeface="Arial" pitchFamily="34" charset="-122"/>
                <a:cs typeface="Arial" pitchFamily="34" charset="-120"/>
              </a:rPr>
              <a:t>3rd Edition</a:t>
            </a:r>
            <a:r>
              <a:rPr lang="en-US" sz="2000" dirty="0">
                <a:solidFill>
                  <a:srgbClr val="63637E"/>
                </a:solidFill>
                <a:latin typeface="Calibri" pitchFamily="34" charset="0"/>
                <a:ea typeface="Calibri" pitchFamily="34" charset="-122"/>
                <a:cs typeface="Calibri" pitchFamily="34" charset="-120"/>
              </a:rPr>
              <a:t>   2026 – 27</a:t>
            </a:r>
            <a:endParaRPr lang="en-US" sz="2500" dirty="0"/>
          </a:p>
        </p:txBody>
      </p:sp>
      <p:sp>
        <p:nvSpPr>
          <p:cNvPr id="7" name="Text 5"/>
          <p:cNvSpPr txBox="1"/>
          <p:nvPr/>
        </p:nvSpPr>
        <p:spPr>
          <a:xfrm>
            <a:off x="777240" y="3310128"/>
            <a:ext cx="5852160" cy="777240"/>
          </a:xfrm>
          <a:prstGeom prst="rect">
            <a:avLst/>
          </a:prstGeom>
          <a:noFill/>
          <a:ln/>
        </p:spPr>
        <p:txBody>
          <a:bodyPr wrap="square" lIns="0" tIns="0" rIns="0" bIns="0" rtlCol="0" anchor="t"/>
          <a:lstStyle/>
          <a:p>
            <a:pPr marL="177800" indent="-177800">
              <a:spcAft>
                <a:spcPts val="500"/>
              </a:spcAft>
              <a:buSzPct val="100000"/>
              <a:buChar char="•"/>
            </a:pPr>
            <a:r>
              <a:rPr sz="1400">
                <a:latin typeface="Calibri"/>
              </a:rPr>
              <a:t>Theme ID - Streaming Live RAG</a:t>
            </a:r>
          </a:p>
          <a:p>
            <a:pPr marL="177800" indent="-177800">
              <a:spcAft>
                <a:spcPts val="500"/>
              </a:spcAft>
              <a:buSzPct val="100000"/>
              <a:buChar char="•"/>
            </a:pPr>
            <a:r>
              <a:rPr sz="1400">
                <a:latin typeface="Calibri"/>
              </a:rPr>
              <a:t>Team Name - Team AI</a:t>
            </a:r>
          </a:p>
          <a:p>
            <a:pPr marL="177800" indent="-177800">
              <a:spcAft>
                <a:spcPts val="500"/>
              </a:spcAft>
              <a:buSzPct val="100000"/>
              <a:buChar char="•"/>
            </a:pPr>
            <a:r>
              <a:rPr sz="1400">
                <a:latin typeface="Calibri"/>
              </a:rPr>
              <a:t>College Name - MS Ramaiah Institute of Technology</a:t>
            </a:r>
          </a:p>
          <a:p>
            <a:pPr marL="177800" indent="-177800">
              <a:spcAft>
                <a:spcPts val="500"/>
              </a:spcAft>
              <a:buSzPct val="100000"/>
              <a:buChar char="•"/>
            </a:pPr>
            <a:r>
              <a:rPr sz="1400">
                <a:latin typeface="Calibri"/>
              </a:rPr>
              <a:t>Member Name &amp; Email 1- Sambhav Heda</a:t>
            </a:r>
          </a:p>
          <a:p>
            <a:pPr marL="177800" indent="-177800">
              <a:spcAft>
                <a:spcPts val="500"/>
              </a:spcAft>
              <a:buSzPct val="100000"/>
              <a:buChar char="•"/>
            </a:pPr>
            <a:r>
              <a:rPr sz="1400">
                <a:latin typeface="Calibri"/>
              </a:rPr>
              <a:t>Member Name &amp; Email 2-</a:t>
            </a:r>
          </a:p>
          <a:p>
            <a:pPr marL="177800" indent="-177800">
              <a:spcAft>
                <a:spcPts val="500"/>
              </a:spcAft>
              <a:buSzPct val="100000"/>
              <a:buFontTx/>
              <a:buChar char="•"/>
            </a:pPr>
            <a:r>
              <a:rPr sz="1400">
                <a:latin typeface="Calibri"/>
              </a:rPr>
              <a:t>Member Name &amp; Email 3-</a:t>
            </a:r>
          </a:p>
          <a:p>
            <a:pPr marL="177800" indent="-177800">
              <a:spcAft>
                <a:spcPts val="500"/>
              </a:spcAft>
              <a:buSzPct val="100000"/>
              <a:buFontTx/>
              <a:buChar char="•"/>
            </a:pPr>
            <a:r>
              <a:rPr sz="1400">
                <a:latin typeface="Calibri"/>
              </a:rPr>
              <a:t>Member Name &amp; Email 4-</a:t>
            </a:r>
          </a:p>
          <a:p>
            <a:pPr marL="177800" indent="-177800">
              <a:spcAft>
                <a:spcPts val="500"/>
              </a:spcAft>
              <a:buSzPct val="100000"/>
              <a:buFontTx/>
              <a:buChar char="•"/>
            </a:pPr>
            <a:r>
              <a:rPr sz="1400">
                <a:latin typeface="Calibri"/>
              </a:rPr>
              <a:t>Submission Github link - (to be added / public repo)</a:t>
            </a:r>
          </a:p>
          <a:p>
            <a:pPr marL="177800" indent="-177800">
              <a:spcAft>
                <a:spcPts val="500"/>
              </a:spcAft>
              <a:buSzPct val="100000"/>
              <a:buChar char="•"/>
            </a:pPr>
            <a:endParaRPr lang="en-US" sz="1600" dirty="0">
              <a:solidFill>
                <a:srgbClr val="63637E"/>
              </a:solidFill>
              <a:latin typeface="Calibri" pitchFamily="34" charset="0"/>
              <a:ea typeface="Calibri" pitchFamily="34" charset="-122"/>
              <a:cs typeface="Calibri" pitchFamily="34" charset="-120"/>
            </a:endParaRPr>
          </a:p>
        </p:txBody>
      </p:sp>
      <p:pic>
        <p:nvPicPr>
          <p:cNvPr id="14" name="Image 0" descr="hero_network.png"/>
          <p:cNvPicPr>
            <a:picLocks noChangeAspect="1"/>
          </p:cNvPicPr>
          <p:nvPr/>
        </p:nvPicPr>
        <p:blipFill>
          <a:blip r:embed="rId3"/>
          <a:stretch>
            <a:fillRect/>
          </a:stretch>
        </p:blipFill>
        <p:spPr>
          <a:xfrm>
            <a:off x="7059168" y="1051560"/>
            <a:ext cx="4572000" cy="4572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353DB3-FB86-4452-A4FB-E7F4BEA62856}"/>
              </a:ext>
            </a:extLst>
          </p:cNvPr>
          <p:cNvSpPr>
            <a:spLocks noGrp="1"/>
          </p:cNvSpPr>
          <p:nvPr>
            <p:ph type="title"/>
          </p:nvPr>
        </p:nvSpPr>
        <p:spPr/>
        <p:txBody>
          <a:bodyPr>
            <a:normAutofit/>
          </a:bodyPr>
          <a:lstStyle/>
          <a:p>
            <a:r>
              <a:rPr lang="en-IN" b="1" dirty="0">
                <a:solidFill>
                  <a:srgbClr val="704EA6"/>
                </a:solidFill>
                <a:latin typeface="+mn-lt"/>
                <a:cs typeface="Arial" pitchFamily="34" charset="-120"/>
              </a:rPr>
              <a:t>Theme</a:t>
            </a:r>
          </a:p>
        </p:txBody>
      </p:sp>
      <p:sp>
        <p:nvSpPr>
          <p:cNvPr id="3" name="Content Placeholder 2">
            <a:extLst>
              <a:ext uri="{FF2B5EF4-FFF2-40B4-BE49-F238E27FC236}">
                <a16:creationId xmlns:a16="http://schemas.microsoft.com/office/drawing/2014/main" id="{539AB598-5650-4E46-905A-9096F4C50C3B}"/>
              </a:ext>
            </a:extLst>
          </p:cNvPr>
          <p:cNvSpPr>
            <a:spLocks noGrp="1"/>
          </p:cNvSpPr>
          <p:nvPr>
            <p:ph idx="1"/>
          </p:nvPr>
        </p:nvSpPr>
        <p:spPr/>
        <p:txBody>
          <a:bodyPr/>
          <a:lstStyle/>
          <a:p>
            <a:r>
              <a:rPr b="1" sz="2000">
                <a:latin typeface="Calibri"/>
              </a:rPr>
              <a:t>ChronoStream RAG — Adaptive Temporal Streaming Retrieval-Augmented Generation</a:t>
            </a:r>
            <a:endParaRPr lang="en-IN"/>
          </a:p>
          <a:p>
            <a:pPr/>
            <a:r>
              <a:rPr b="0" sz="1500">
                <a:latin typeface="Calibri"/>
              </a:rPr>
              <a:t>Problem: Traditional RAG uses static knowledge bases that become stale within minutes on live data streams (news, sensors, audio, markets).</a:t>
            </a:r>
          </a:p>
          <a:p>
            <a:pPr/>
            <a:r>
              <a:rPr b="0" sz="1500">
                <a:latin typeface="Calibri"/>
              </a:rPr>
              <a:t>Our Theme Focus: Streaming Live RAG — continuously ingest live streams, maintain an always-fresh temporal index, and answer time-sensitive queries with low latency and precise source attribution.</a:t>
            </a:r>
          </a:p>
          <a:p>
            <a:pPr/>
            <a:r>
              <a:rPr b="1" sz="1600">
                <a:latin typeface="Calibri"/>
              </a:rPr>
              <a:t>Solution Name: ChronoStream RAG</a:t>
            </a:r>
          </a:p>
          <a:p>
            <a:pPr/>
            <a:r>
              <a:rPr b="0" sz="1500">
                <a:latin typeface="Calibri"/>
              </a:rPr>
              <a:t>Key Idea: Hierarchical adaptive prototypes + event-driven temporal knowledge graph + learned retrieval trigger + edge-friendly design.</a:t>
            </a:r>
          </a:p>
          <a:p>
            <a:pPr/>
            <a:r>
              <a:rPr b="0" sz="1500">
                <a:latin typeface="Calibri"/>
              </a:rPr>
              <a:t>Why this theme is powerful for the hackathon: High real-world impact, measurable freshness/latency gains, strong differentiation from vanilla RAG, and feasible for a solid working prototype.</a:t>
            </a:r>
          </a:p>
        </p:txBody>
      </p:sp>
    </p:spTree>
    <p:extLst>
      <p:ext uri="{BB962C8B-B14F-4D97-AF65-F5344CB8AC3E}">
        <p14:creationId xmlns:p14="http://schemas.microsoft.com/office/powerpoint/2010/main" val="25647885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353DB3-FB86-4452-A4FB-E7F4BEA62856}"/>
              </a:ext>
            </a:extLst>
          </p:cNvPr>
          <p:cNvSpPr>
            <a:spLocks noGrp="1"/>
          </p:cNvSpPr>
          <p:nvPr>
            <p:ph type="title"/>
          </p:nvPr>
        </p:nvSpPr>
        <p:spPr/>
        <p:txBody>
          <a:bodyPr>
            <a:normAutofit/>
          </a:bodyPr>
          <a:lstStyle/>
          <a:p>
            <a:r>
              <a:rPr lang="en-IN" b="1" dirty="0">
                <a:solidFill>
                  <a:srgbClr val="704EA6"/>
                </a:solidFill>
                <a:latin typeface="+mn-lt"/>
                <a:cs typeface="Arial" pitchFamily="34" charset="-120"/>
              </a:rPr>
              <a:t>Existing Solutions &amp; Gaps</a:t>
            </a:r>
          </a:p>
        </p:txBody>
      </p:sp>
      <p:sp>
        <p:nvSpPr>
          <p:cNvPr id="3" name="Content Placeholder 2">
            <a:extLst>
              <a:ext uri="{FF2B5EF4-FFF2-40B4-BE49-F238E27FC236}">
                <a16:creationId xmlns:a16="http://schemas.microsoft.com/office/drawing/2014/main" id="{539AB598-5650-4E46-905A-9096F4C50C3B}"/>
              </a:ext>
            </a:extLst>
          </p:cNvPr>
          <p:cNvSpPr>
            <a:spLocks noGrp="1"/>
          </p:cNvSpPr>
          <p:nvPr>
            <p:ph idx="1"/>
          </p:nvPr>
        </p:nvSpPr>
        <p:spPr/>
        <p:txBody>
          <a:bodyPr/>
          <a:lstStyle/>
          <a:p>
            <a:r>
              <a:rPr b="1" sz="1400">
                <a:latin typeface="Calibri"/>
              </a:rPr>
              <a:t>Gaps identified from recent Streaming RAG literature (Zhu 2025, Sankaradas StreamingRAG, Stream RAG speech, RisingWave, StreamingBench, etc.):</a:t>
            </a:r>
            <a:endParaRPr lang="en-IN"/>
          </a:p>
          <a:p>
            <a:pPr/>
            <a:r>
              <a:rPr b="0" sz="1200">
                <a:latin typeface="Calibri"/>
              </a:rPr>
              <a:t>1. Memory vs Semantic Coverage — Full indices explode memory; heavy-hitter filters lose rare but critical topics.</a:t>
            </a:r>
          </a:p>
          <a:p>
            <a:pPr/>
            <a:r>
              <a:rPr b="0" sz="1200">
                <a:latin typeface="Calibri"/>
              </a:rPr>
              <a:t>2. Persistent Staleness — Even frequent batch re-indexing leaves minutes/hours of outdated context → hallucinations.</a:t>
            </a:r>
          </a:p>
          <a:p>
            <a:pPr/>
            <a:r>
              <a:rPr b="0" sz="1200">
                <a:latin typeface="Calibri"/>
              </a:rPr>
              <a:t>3. Latency of Heavy Multimodal Models — MM-LLMs take 3–5 s/frame, missing unfolding events.</a:t>
            </a:r>
          </a:p>
          <a:p>
            <a:pPr/>
            <a:r>
              <a:rPr b="0" sz="1200">
                <a:latin typeface="Calibri"/>
              </a:rPr>
              <a:t>4. Weak Temporal &amp; Multi-turn Reasoning — Poor support for long time windows and noisy continuous dialogue.</a:t>
            </a:r>
          </a:p>
          <a:p>
            <a:pPr/>
            <a:r>
              <a:rPr b="0" sz="1200">
                <a:latin typeface="Calibri"/>
              </a:rPr>
              <a:t>5. Brittle Heuristic Triggering — Fixed-interval or hand-crafted rules for when to retrieve.</a:t>
            </a:r>
          </a:p>
          <a:p>
            <a:pPr/>
            <a:r>
              <a:rPr b="0" sz="1200">
                <a:latin typeface="Calibri"/>
              </a:rPr>
              <a:t>6. Cloud-heavy / Edge-unfriendly — Limited privacy-preserving or on-device streaming RAG.</a:t>
            </a:r>
          </a:p>
          <a:p>
            <a:pPr/>
            <a:r>
              <a:rPr b="0" sz="1200">
                <a:latin typeface="Calibri"/>
              </a:rPr>
              <a:t>7. Fragmented Modalities — Text, audio, video, and structured streams rarely unified.</a:t>
            </a:r>
          </a:p>
          <a:p>
            <a:pPr/>
            <a:r>
              <a:rPr b="0" sz="1200">
                <a:latin typeface="Calibri"/>
              </a:rPr>
              <a:t>8. Low Absolute Accuracy + Weak Evaluation — Relative gains look good; real-world noisy benchmarks scarce.</a:t>
            </a:r>
          </a:p>
          <a:p>
            <a:pPr/>
            <a:r>
              <a:rPr b="0" sz="1200">
                <a:latin typeface="Calibri"/>
              </a:rPr>
              <a:t>9. Production Scalability Failures — Demo systems collapse under concurrent high-throughput updates.</a:t>
            </a:r>
          </a:p>
          <a:p>
            <a:pPr/>
            <a:r>
              <a:rPr b="0" sz="1200">
                <a:latin typeface="Calibri"/>
              </a:rPr>
              <a:t>10. Poor Source Attribution — Hard to cite precise timestamps in evolving live streams.</a:t>
            </a:r>
          </a:p>
        </p:txBody>
      </p:sp>
    </p:spTree>
    <p:extLst>
      <p:ext uri="{BB962C8B-B14F-4D97-AF65-F5344CB8AC3E}">
        <p14:creationId xmlns:p14="http://schemas.microsoft.com/office/powerpoint/2010/main" val="154997041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353DB3-FB86-4452-A4FB-E7F4BEA62856}"/>
              </a:ext>
            </a:extLst>
          </p:cNvPr>
          <p:cNvSpPr>
            <a:spLocks noGrp="1"/>
          </p:cNvSpPr>
          <p:nvPr>
            <p:ph type="title"/>
          </p:nvPr>
        </p:nvSpPr>
        <p:spPr>
          <a:xfrm>
            <a:off x="909917" y="266513"/>
            <a:ext cx="10515600" cy="1325563"/>
          </a:xfrm>
        </p:spPr>
        <p:txBody>
          <a:bodyPr/>
          <a:lstStyle/>
          <a:p>
            <a:r>
              <a:rPr lang="en-IN" b="1" dirty="0">
                <a:solidFill>
                  <a:srgbClr val="704EA6"/>
                </a:solidFill>
                <a:latin typeface="+mn-lt"/>
              </a:rPr>
              <a:t>Our Solutions &amp; Architecture Diagram</a:t>
            </a:r>
          </a:p>
        </p:txBody>
      </p:sp>
      <p:sp>
        <p:nvSpPr>
          <p:cNvPr id="3" name="Content Placeholder 2">
            <a:extLst>
              <a:ext uri="{FF2B5EF4-FFF2-40B4-BE49-F238E27FC236}">
                <a16:creationId xmlns:a16="http://schemas.microsoft.com/office/drawing/2014/main" id="{539AB598-5650-4E46-905A-9096F4C50C3B}"/>
              </a:ext>
            </a:extLst>
          </p:cNvPr>
          <p:cNvSpPr>
            <a:spLocks noGrp="1"/>
          </p:cNvSpPr>
          <p:nvPr>
            <p:ph idx="1"/>
          </p:nvPr>
        </p:nvSpPr>
        <p:spPr/>
        <p:txBody>
          <a:bodyPr/>
          <a:lstStyle/>
          <a:p>
            <a:r>
              <a:rPr b="1" sz="1800">
                <a:latin typeface="Calibri"/>
              </a:rPr>
              <a:t>ChronoStream RAG Architecture</a:t>
            </a:r>
            <a:endParaRPr lang="en-IN"/>
          </a:p>
          <a:p>
            <a:pPr/>
            <a:r>
              <a:rPr b="0" sz="1400">
                <a:latin typeface="Calibri"/>
              </a:rPr>
              <a:t>1. Live Ingestion Layer: Continuous streams (news/audio/sensors) → lightweight chunking + embedding (quantized models).</a:t>
            </a:r>
          </a:p>
          <a:p>
            <a:pPr/>
            <a:r>
              <a:rPr b="0" sz="1400">
                <a:latin typeface="Calibri"/>
              </a:rPr>
              <a:t>2. Hierarchical Adaptive Prototypes: Micro-clusters for fine coverage + global heavy-hitters with temporal decay (solves memory/coverage gap).</a:t>
            </a:r>
          </a:p>
          <a:p>
            <a:pPr/>
            <a:r>
              <a:rPr b="0" sz="1400">
                <a:latin typeface="Calibri"/>
              </a:rPr>
              <a:t>3. Event-Driven Temporal Knowledge Graph: Cheap scorer prioritizes important events → incremental KG updates with timestamps.</a:t>
            </a:r>
          </a:p>
          <a:p>
            <a:pPr/>
            <a:r>
              <a:rPr b="0" sz="1400">
                <a:latin typeface="Calibri"/>
              </a:rPr>
              <a:t>4. Learned Retrieval Trigger + Prefetch: Tiny classifier decides when/what to retrieve from partial input; parallel prefetch hides latency.</a:t>
            </a:r>
          </a:p>
          <a:p>
            <a:pPr/>
            <a:r>
              <a:rPr b="0" sz="1400">
                <a:latin typeface="Calibri"/>
              </a:rPr>
              <a:t>5. Hybrid Time-Aware Retriever: Dense + sparse + temporal filters + recency-biased re-ranker. Answers carry precise UTC citations.</a:t>
            </a:r>
          </a:p>
          <a:p>
            <a:pPr/>
            <a:r>
              <a:rPr b="0" sz="1400">
                <a:latin typeface="Calibri"/>
              </a:rPr>
              <a:t>6. Edge-First Execution: On-device index for privacy-sensitive data; selective cloud offload only for heavy generation.</a:t>
            </a:r>
          </a:p>
          <a:p>
            <a:pPr/>
            <a:r>
              <a:rPr b="1" sz="1400">
                <a:latin typeface="Calibri"/>
              </a:rPr>
              <a:t>Result: Sub-second freshness, bounded memory, low perceived latency, multimodal + structured streams in one system.</a:t>
            </a:r>
          </a:p>
        </p:txBody>
      </p:sp>
    </p:spTree>
    <p:extLst>
      <p:ext uri="{BB962C8B-B14F-4D97-AF65-F5344CB8AC3E}">
        <p14:creationId xmlns:p14="http://schemas.microsoft.com/office/powerpoint/2010/main" val="2579789072"/>
      </p:ext>
    </p:extLst>
  </p:cSld>
  <p:clrMapOvr>
    <a:overrideClrMapping bg1="lt1" tx1="dk1" bg2="lt2" tx2="dk2" accent1="accent1" accent2="accent2" accent3="accent3" accent4="accent4" accent5="accent5" accent6="accent6" hlink="hlink" folHlink="folHlink"/>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353DB3-FB86-4452-A4FB-E7F4BEA62856}"/>
              </a:ext>
            </a:extLst>
          </p:cNvPr>
          <p:cNvSpPr>
            <a:spLocks noGrp="1"/>
          </p:cNvSpPr>
          <p:nvPr>
            <p:ph type="title"/>
          </p:nvPr>
        </p:nvSpPr>
        <p:spPr/>
        <p:txBody>
          <a:bodyPr/>
          <a:lstStyle/>
          <a:p>
            <a:r>
              <a:rPr lang="en-IN" b="1" dirty="0">
                <a:solidFill>
                  <a:srgbClr val="704EA6"/>
                </a:solidFill>
                <a:latin typeface="+mn-lt"/>
              </a:rPr>
              <a:t>Demo &amp; Product Walkthrough</a:t>
            </a:r>
          </a:p>
        </p:txBody>
      </p:sp>
      <p:sp>
        <p:nvSpPr>
          <p:cNvPr id="3" name="Content Placeholder 2">
            <a:extLst>
              <a:ext uri="{FF2B5EF4-FFF2-40B4-BE49-F238E27FC236}">
                <a16:creationId xmlns:a16="http://schemas.microsoft.com/office/drawing/2014/main" id="{539AB598-5650-4E46-905A-9096F4C50C3B}"/>
              </a:ext>
            </a:extLst>
          </p:cNvPr>
          <p:cNvSpPr>
            <a:spLocks noGrp="1"/>
          </p:cNvSpPr>
          <p:nvPr>
            <p:ph idx="1"/>
          </p:nvPr>
        </p:nvSpPr>
        <p:spPr/>
        <p:txBody>
          <a:bodyPr/>
          <a:lstStyle/>
          <a:p>
            <a:r>
              <a:rPr b="1" sz="1800">
                <a:latin typeface="Calibri"/>
              </a:rPr>
              <a:t>Demo Flow (max 5 min video)</a:t>
            </a:r>
            <a:endParaRPr lang="en-IN"/>
          </a:p>
          <a:p>
            <a:pPr/>
            <a:r>
              <a:rPr b="0" sz="1500">
                <a:latin typeface="Calibri"/>
              </a:rPr>
              <a:t>1. Start live stream (e.g., BBC World Service audio or simulated news/sensor feed).</a:t>
            </a:r>
          </a:p>
          <a:p>
            <a:pPr/>
            <a:r>
              <a:rPr b="0" sz="1500">
                <a:latin typeface="Calibri"/>
              </a:rPr>
              <a:t>2. System continuously transcribes / chunks / embeds / updates hierarchical prototypes + temporal KG in background.</a:t>
            </a:r>
          </a:p>
          <a:p>
            <a:pPr/>
            <a:r>
              <a:rPr b="0" sz="1500">
                <a:latin typeface="Calibri"/>
              </a:rPr>
              <a:t>3. User asks time-sensitive question: “What were the main topics in the last 10 minutes?” or “Any critical sensor anomaly since 14:20?”</a:t>
            </a:r>
          </a:p>
          <a:p>
            <a:pPr/>
            <a:r>
              <a:rPr b="0" sz="1500">
                <a:latin typeface="Calibri"/>
              </a:rPr>
              <a:t>4. Learned trigger fires → hybrid retrieval with temporal filter → LLM generates answer with precise timestamped citations.</a:t>
            </a:r>
          </a:p>
          <a:p>
            <a:pPr/>
            <a:r>
              <a:rPr b="0" sz="1500">
                <a:latin typeface="Calibri"/>
              </a:rPr>
              <a:t>5. Show side-by-side comparison: static RAG (stale) vs ChronoStream (fresh, low latency).</a:t>
            </a:r>
          </a:p>
          <a:p>
            <a:pPr/>
            <a:r>
              <a:rPr b="0" sz="1500">
                <a:latin typeface="Calibri"/>
              </a:rPr>
              <a:t>6. Optional: demonstrate edge mode (on-device index) and multi-modal (audio + text).</a:t>
            </a:r>
          </a:p>
          <a:p>
            <a:pPr/>
            <a:r>
              <a:rPr b="1" sz="1500">
                <a:latin typeface="Calibri"/>
              </a:rPr>
              <a:t>Deliverables: Working prototype + public GitHub + 5-min demo video + this presentation.</a:t>
            </a:r>
          </a:p>
        </p:txBody>
      </p:sp>
    </p:spTree>
    <p:extLst>
      <p:ext uri="{BB962C8B-B14F-4D97-AF65-F5344CB8AC3E}">
        <p14:creationId xmlns:p14="http://schemas.microsoft.com/office/powerpoint/2010/main" val="11782449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353DB3-FB86-4452-A4FB-E7F4BEA62856}"/>
              </a:ext>
            </a:extLst>
          </p:cNvPr>
          <p:cNvSpPr>
            <a:spLocks noGrp="1"/>
          </p:cNvSpPr>
          <p:nvPr>
            <p:ph type="title"/>
          </p:nvPr>
        </p:nvSpPr>
        <p:spPr/>
        <p:txBody>
          <a:bodyPr/>
          <a:lstStyle/>
          <a:p>
            <a:r>
              <a:rPr lang="en-US" sz="4400" b="1" dirty="0">
                <a:solidFill>
                  <a:srgbClr val="704EA6"/>
                </a:solidFill>
                <a:latin typeface="Calibri" pitchFamily="34" charset="0"/>
                <a:ea typeface="Calibri" pitchFamily="34" charset="-122"/>
                <a:cs typeface="Calibri" pitchFamily="34" charset="-120"/>
              </a:rPr>
              <a:t>Tools and tech stack used</a:t>
            </a:r>
            <a:endParaRPr lang="en-IN" b="1" dirty="0">
              <a:solidFill>
                <a:srgbClr val="704EA6"/>
              </a:solidFill>
            </a:endParaRPr>
          </a:p>
        </p:txBody>
      </p:sp>
      <p:sp>
        <p:nvSpPr>
          <p:cNvPr id="3" name="Content Placeholder 2">
            <a:extLst>
              <a:ext uri="{FF2B5EF4-FFF2-40B4-BE49-F238E27FC236}">
                <a16:creationId xmlns:a16="http://schemas.microsoft.com/office/drawing/2014/main" id="{539AB598-5650-4E46-905A-9096F4C50C3B}"/>
              </a:ext>
            </a:extLst>
          </p:cNvPr>
          <p:cNvSpPr>
            <a:spLocks noGrp="1"/>
          </p:cNvSpPr>
          <p:nvPr>
            <p:ph idx="1"/>
          </p:nvPr>
        </p:nvSpPr>
        <p:spPr/>
        <p:txBody>
          <a:bodyPr/>
          <a:lstStyle/>
          <a:p>
            <a:r>
              <a:rPr b="1" sz="1600">
                <a:latin typeface="Calibri"/>
              </a:rPr>
              <a:t>Tech Stack (chosen for speed of prototyping + production relevance)</a:t>
            </a:r>
            <a:endParaRPr lang="en-IN" dirty="0"/>
          </a:p>
          <a:p>
            <a:pPr/>
            <a:r>
              <a:rPr b="0" sz="1400">
                <a:latin typeface="Calibri"/>
              </a:rPr>
              <a:t>Language &amp; Orchestration: Python 3.11+, LangChain / LlamaIndex, FastAPI</a:t>
            </a:r>
          </a:p>
          <a:p>
            <a:pPr/>
            <a:r>
              <a:rPr b="0" sz="1400">
                <a:latin typeface="Calibri"/>
              </a:rPr>
              <a:t>Streaming &amp; Ingestion: Kafka / Redis Streams or simple WebSocket + asyncio; optional RisingWave-style continuous views</a:t>
            </a:r>
          </a:p>
          <a:p>
            <a:pPr/>
            <a:r>
              <a:rPr b="0" sz="1400">
                <a:latin typeface="Calibri"/>
              </a:rPr>
              <a:t>Embeddings &amp; Vector Store: sentence-transformers (quantized) + Qdrant / Chroma with incremental upserts + temporal metadata</a:t>
            </a:r>
          </a:p>
          <a:p>
            <a:pPr/>
            <a:r>
              <a:rPr b="0" sz="1400">
                <a:latin typeface="Calibri"/>
              </a:rPr>
              <a:t>Speech / Audio: Faster-Whisper or NVIDIA Riva-style ASR for live transcription</a:t>
            </a:r>
          </a:p>
          <a:p>
            <a:pPr/>
            <a:r>
              <a:rPr b="0" sz="1400">
                <a:latin typeface="Calibri"/>
              </a:rPr>
              <a:t>LLM: Open-source (Llama-3.1/3.2, Qwen2.5, Gemma) via vLLM / Ollama + optional API fallback</a:t>
            </a:r>
          </a:p>
          <a:p>
            <a:pPr/>
            <a:r>
              <a:rPr b="0" sz="1400">
                <a:latin typeface="Calibri"/>
              </a:rPr>
              <a:t>Temporal KG: NetworkX / Neo4j community or lightweight in-memory graph with timestamped edges</a:t>
            </a:r>
          </a:p>
          <a:p>
            <a:pPr/>
            <a:r>
              <a:rPr b="0" sz="1400">
                <a:latin typeface="Calibri"/>
              </a:rPr>
              <a:t>Trigger Model: Small classifier (scikit-learn / tiny transformer) on partial input features</a:t>
            </a:r>
          </a:p>
          <a:p>
            <a:pPr/>
            <a:r>
              <a:rPr b="0" sz="1400">
                <a:latin typeface="Calibri"/>
              </a:rPr>
              <a:t>Frontend / Demo: Streamlit or Gradio for quick interactive UI + timestamped answer display</a:t>
            </a:r>
          </a:p>
          <a:p>
            <a:pPr/>
            <a:r>
              <a:rPr b="0" sz="1400">
                <a:latin typeface="Calibri"/>
              </a:rPr>
              <a:t>Infra: Docker for reproducibility; GitHub Actions for CI; optional edge (ONNX / quantization)</a:t>
            </a:r>
          </a:p>
        </p:txBody>
      </p:sp>
    </p:spTree>
    <p:extLst>
      <p:ext uri="{BB962C8B-B14F-4D97-AF65-F5344CB8AC3E}">
        <p14:creationId xmlns:p14="http://schemas.microsoft.com/office/powerpoint/2010/main" val="372482880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353DB3-FB86-4452-A4FB-E7F4BEA62856}"/>
              </a:ext>
            </a:extLst>
          </p:cNvPr>
          <p:cNvSpPr>
            <a:spLocks noGrp="1"/>
          </p:cNvSpPr>
          <p:nvPr>
            <p:ph type="title"/>
          </p:nvPr>
        </p:nvSpPr>
        <p:spPr/>
        <p:txBody>
          <a:bodyPr/>
          <a:lstStyle/>
          <a:p>
            <a:r>
              <a:rPr lang="en-US" sz="4400" b="1" dirty="0">
                <a:solidFill>
                  <a:srgbClr val="704EA6"/>
                </a:solidFill>
                <a:latin typeface="Calibri" pitchFamily="34" charset="0"/>
                <a:ea typeface="Calibri" pitchFamily="34" charset="-122"/>
                <a:cs typeface="Calibri" pitchFamily="34" charset="-120"/>
              </a:rPr>
              <a:t>Impact &amp; Use case</a:t>
            </a:r>
            <a:endParaRPr lang="en-IN" b="1" dirty="0">
              <a:solidFill>
                <a:srgbClr val="704EA6"/>
              </a:solidFill>
            </a:endParaRPr>
          </a:p>
        </p:txBody>
      </p:sp>
      <p:sp>
        <p:nvSpPr>
          <p:cNvPr id="3" name="Content Placeholder 2">
            <a:extLst>
              <a:ext uri="{FF2B5EF4-FFF2-40B4-BE49-F238E27FC236}">
                <a16:creationId xmlns:a16="http://schemas.microsoft.com/office/drawing/2014/main" id="{539AB598-5650-4E46-905A-9096F4C50C3B}"/>
              </a:ext>
            </a:extLst>
          </p:cNvPr>
          <p:cNvSpPr>
            <a:spLocks noGrp="1"/>
          </p:cNvSpPr>
          <p:nvPr>
            <p:ph idx="1"/>
          </p:nvPr>
        </p:nvSpPr>
        <p:spPr/>
        <p:txBody>
          <a:bodyPr/>
          <a:lstStyle/>
          <a:p>
            <a:r>
              <a:rPr b="1" sz="1800">
                <a:latin typeface="Calibri"/>
              </a:rPr>
              <a:t>High-Impact Use Cases</a:t>
            </a:r>
            <a:endParaRPr lang="en-IN" dirty="0"/>
          </a:p>
          <a:p>
            <a:pPr/>
            <a:r>
              <a:rPr b="0" sz="1400">
                <a:latin typeface="Calibri"/>
              </a:rPr>
              <a:t>1. Live News &amp; Event Intelligence — Answer “what happened in the last 15 minutes” with source timestamps; journalists, analysts, emergency response.</a:t>
            </a:r>
          </a:p>
          <a:p>
            <a:pPr/>
            <a:r>
              <a:rPr b="0" sz="1400">
                <a:latin typeface="Calibri"/>
              </a:rPr>
              <a:t>2. Smart-Home / Elder-Care Monitoring (Samsung ecosystem fit) — Continuous audio + sensor streams; real-time anomaly queries with privacy-first on-device index.</a:t>
            </a:r>
          </a:p>
          <a:p>
            <a:pPr/>
            <a:r>
              <a:rPr b="0" sz="1400">
                <a:latin typeface="Calibri"/>
              </a:rPr>
              <a:t>3. Financial / Market Monitoring — Tick-level and news streams; always-fresh context for trading assistants without hallucination on stale prices.</a:t>
            </a:r>
          </a:p>
          <a:p>
            <a:pPr/>
            <a:r>
              <a:rPr b="0" sz="1400">
                <a:latin typeface="Calibri"/>
              </a:rPr>
              <a:t>4. Industrial IoT &amp; Predictive Maintenance — Sensor streams + logs; time-window queries (“any vibration spike since shift start?”).</a:t>
            </a:r>
          </a:p>
          <a:p>
            <a:pPr/>
            <a:r>
              <a:rPr b="1" sz="1400">
                <a:latin typeface="Calibri"/>
              </a:rPr>
              <a:t>Impact Metrics: Context freshness (seconds vs hours), TTFT / perceived latency, Recall@k on temporal queries, memory footprint, hallucination rate on time-sensitive facts.</a:t>
            </a:r>
          </a:p>
        </p:txBody>
      </p:sp>
    </p:spTree>
    <p:extLst>
      <p:ext uri="{BB962C8B-B14F-4D97-AF65-F5344CB8AC3E}">
        <p14:creationId xmlns:p14="http://schemas.microsoft.com/office/powerpoint/2010/main" val="366811909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353DB3-FB86-4452-A4FB-E7F4BEA62856}"/>
              </a:ext>
            </a:extLst>
          </p:cNvPr>
          <p:cNvSpPr>
            <a:spLocks noGrp="1"/>
          </p:cNvSpPr>
          <p:nvPr>
            <p:ph type="title"/>
          </p:nvPr>
        </p:nvSpPr>
        <p:spPr/>
        <p:txBody>
          <a:bodyPr/>
          <a:lstStyle/>
          <a:p>
            <a:pPr>
              <a:spcAft>
                <a:spcPts val="500"/>
              </a:spcAft>
              <a:buSzPct val="100000"/>
            </a:pPr>
            <a:r>
              <a:rPr lang="en-US" sz="4400" b="1" dirty="0">
                <a:solidFill>
                  <a:srgbClr val="704EA6"/>
                </a:solidFill>
                <a:latin typeface="Calibri" pitchFamily="34" charset="0"/>
                <a:ea typeface="Calibri" pitchFamily="34" charset="-122"/>
                <a:cs typeface="Calibri" pitchFamily="34" charset="-120"/>
              </a:rPr>
              <a:t>Innovation highlights, results and limitations</a:t>
            </a:r>
            <a:endParaRPr lang="en-US" sz="4400" b="1" dirty="0">
              <a:solidFill>
                <a:srgbClr val="704EA6"/>
              </a:solidFill>
            </a:endParaRPr>
          </a:p>
        </p:txBody>
      </p:sp>
      <p:sp>
        <p:nvSpPr>
          <p:cNvPr id="3" name="Content Placeholder 2">
            <a:extLst>
              <a:ext uri="{FF2B5EF4-FFF2-40B4-BE49-F238E27FC236}">
                <a16:creationId xmlns:a16="http://schemas.microsoft.com/office/drawing/2014/main" id="{539AB598-5650-4E46-905A-9096F4C50C3B}"/>
              </a:ext>
            </a:extLst>
          </p:cNvPr>
          <p:cNvSpPr>
            <a:spLocks noGrp="1"/>
          </p:cNvSpPr>
          <p:nvPr>
            <p:ph idx="1"/>
          </p:nvPr>
        </p:nvSpPr>
        <p:spPr/>
        <p:txBody>
          <a:bodyPr/>
          <a:lstStyle/>
          <a:p>
            <a:r>
              <a:rPr b="1" sz="1600">
                <a:latin typeface="Calibri"/>
              </a:rPr>
              <a:t>Innovation Highlights &amp; Expected Results</a:t>
            </a:r>
            <a:endParaRPr lang="en-IN" dirty="0"/>
          </a:p>
          <a:p>
            <a:pPr/>
            <a:r>
              <a:rPr b="0" sz="1300">
                <a:latin typeface="Calibri"/>
              </a:rPr>
              <a:t>• Hierarchical Adaptive Prototypes — first practical reconciliation of heavy-hitter memory bounds with semantic coverage for RAG.</a:t>
            </a:r>
          </a:p>
          <a:p>
            <a:pPr/>
            <a:r>
              <a:rPr b="0" sz="1300">
                <a:latin typeface="Calibri"/>
              </a:rPr>
              <a:t>• Learned Trigger + Prefetch — moves beyond fixed-interval heuristics; reduces unnecessary tool calls and hides latency.</a:t>
            </a:r>
          </a:p>
          <a:p>
            <a:pPr/>
            <a:r>
              <a:rPr b="0" sz="1300">
                <a:latin typeface="Calibri"/>
              </a:rPr>
              <a:t>• Unified Temporal KG for multimodal + structured streams with precise attribution.</a:t>
            </a:r>
          </a:p>
          <a:p>
            <a:pPr/>
            <a:r>
              <a:rPr b="0" sz="1300">
                <a:latin typeface="Calibri"/>
              </a:rPr>
              <a:t>• Edge-first design — privacy and offline capability missing from most 2025–26 Streaming RAG papers.</a:t>
            </a:r>
          </a:p>
          <a:p>
            <a:pPr/>
            <a:r>
              <a:rPr b="1" sz="1300">
                <a:latin typeface="Calibri"/>
              </a:rPr>
              <a:t>Expected Results (prototype targets): sub-15–30 s freshness, &lt;1 s perceived latency on simple queries, measurable gain on temporal QA vs static RAG, bounded memory under continuous load.</a:t>
            </a:r>
          </a:p>
          <a:p>
            <a:pPr/>
            <a:r>
              <a:rPr b="1" sz="1400">
                <a:latin typeface="Calibri"/>
              </a:rPr>
              <a:t>Limitations (honest)</a:t>
            </a:r>
          </a:p>
          <a:p>
            <a:pPr/>
            <a:r>
              <a:rPr b="0" sz="1300">
                <a:latin typeface="Calibri"/>
              </a:rPr>
              <a:t>• Absolute accuracy still depends on underlying LLM and embedding quality.</a:t>
            </a:r>
          </a:p>
          <a:p>
            <a:pPr/>
            <a:r>
              <a:rPr b="0" sz="1300">
                <a:latin typeface="Calibri"/>
              </a:rPr>
              <a:t>• Very high-throughput multimodal streams may still require cloud offload for heavy extraction.</a:t>
            </a:r>
          </a:p>
          <a:p>
            <a:pPr/>
            <a:r>
              <a:rPr b="0" sz="1300">
                <a:latin typeface="Calibri"/>
              </a:rPr>
              <a:t>• Long-term temporal memory (days/weeks) needs further hierarchical summarization research.</a:t>
            </a:r>
          </a:p>
          <a:p>
            <a:pPr/>
            <a:r>
              <a:rPr b="0" sz="1300">
                <a:latin typeface="Calibri"/>
              </a:rPr>
              <a:t>• Full user-study on conversational flow is future work.</a:t>
            </a:r>
          </a:p>
        </p:txBody>
      </p:sp>
    </p:spTree>
    <p:extLst>
      <p:ext uri="{BB962C8B-B14F-4D97-AF65-F5344CB8AC3E}">
        <p14:creationId xmlns:p14="http://schemas.microsoft.com/office/powerpoint/2010/main" val="199323702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353DB3-FB86-4452-A4FB-E7F4BEA62856}"/>
              </a:ext>
            </a:extLst>
          </p:cNvPr>
          <p:cNvSpPr>
            <a:spLocks noGrp="1"/>
          </p:cNvSpPr>
          <p:nvPr>
            <p:ph type="title"/>
          </p:nvPr>
        </p:nvSpPr>
        <p:spPr/>
        <p:txBody>
          <a:bodyPr/>
          <a:lstStyle/>
          <a:p>
            <a:pPr>
              <a:spcAft>
                <a:spcPts val="500"/>
              </a:spcAft>
              <a:buSzPct val="100000"/>
            </a:pPr>
            <a:r>
              <a:rPr lang="en-US" sz="4400" b="1" dirty="0">
                <a:solidFill>
                  <a:srgbClr val="704EA6"/>
                </a:solidFill>
                <a:latin typeface="Calibri" pitchFamily="34" charset="0"/>
                <a:ea typeface="Calibri" pitchFamily="34" charset="-122"/>
                <a:cs typeface="Calibri" pitchFamily="34" charset="-120"/>
              </a:rPr>
              <a:t>What’s next</a:t>
            </a:r>
            <a:endParaRPr lang="en-US" sz="4400" b="1" dirty="0">
              <a:solidFill>
                <a:srgbClr val="704EA6"/>
              </a:solidFill>
            </a:endParaRPr>
          </a:p>
        </p:txBody>
      </p:sp>
      <p:sp>
        <p:nvSpPr>
          <p:cNvPr id="3" name="Content Placeholder 2">
            <a:extLst>
              <a:ext uri="{FF2B5EF4-FFF2-40B4-BE49-F238E27FC236}">
                <a16:creationId xmlns:a16="http://schemas.microsoft.com/office/drawing/2014/main" id="{539AB598-5650-4E46-905A-9096F4C50C3B}"/>
              </a:ext>
            </a:extLst>
          </p:cNvPr>
          <p:cNvSpPr>
            <a:spLocks noGrp="1"/>
          </p:cNvSpPr>
          <p:nvPr>
            <p:ph idx="1"/>
          </p:nvPr>
        </p:nvSpPr>
        <p:spPr/>
        <p:txBody>
          <a:bodyPr/>
          <a:lstStyle/>
          <a:p>
            <a:r>
              <a:rPr b="1" sz="1800">
                <a:latin typeface="Calibri"/>
              </a:rPr>
              <a:t>Roadmap</a:t>
            </a:r>
            <a:endParaRPr lang="en-IN" dirty="0"/>
          </a:p>
          <a:p>
            <a:pPr/>
            <a:r>
              <a:rPr b="0" sz="1400">
                <a:latin typeface="Calibri"/>
              </a:rPr>
              <a:t>Short-term (post-hackathon): Polish public GitHub, add more stream sources, tighten evaluation suite on temporal QA benchmarks.</a:t>
            </a:r>
          </a:p>
          <a:p>
            <a:pPr/>
            <a:r>
              <a:rPr b="0" sz="1400">
                <a:latin typeface="Calibri"/>
              </a:rPr>
              <a:t>Medium-term: Stronger multi-agent orchestration, longer temporal hierarchical memory, on-device quantized full pipeline for Galaxy/SmartThings devices.</a:t>
            </a:r>
          </a:p>
          <a:p>
            <a:pPr/>
            <a:r>
              <a:rPr b="0" sz="1400">
                <a:latin typeface="Calibri"/>
              </a:rPr>
              <a:t>Longer-term: User studies on perceived latency and trust; open temporal streaming RAG benchmark; integration with Samsung PRISM / Language AI ecosystem.</a:t>
            </a:r>
          </a:p>
          <a:p>
            <a:pPr/>
            <a:r>
              <a:rPr b="0" sz="1400">
                <a:latin typeface="Calibri"/>
              </a:rPr>
              <a:t>Research extensions: Theoretical bounds on adaptive prototype quality under concept drift; privacy-preserving federated streaming RAG.</a:t>
            </a:r>
          </a:p>
        </p:txBody>
      </p:sp>
    </p:spTree>
    <p:extLst>
      <p:ext uri="{BB962C8B-B14F-4D97-AF65-F5344CB8AC3E}">
        <p14:creationId xmlns:p14="http://schemas.microsoft.com/office/powerpoint/2010/main" val="398591468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353DB3-FB86-4452-A4FB-E7F4BEA62856}"/>
              </a:ext>
            </a:extLst>
          </p:cNvPr>
          <p:cNvSpPr>
            <a:spLocks noGrp="1"/>
          </p:cNvSpPr>
          <p:nvPr>
            <p:ph type="title"/>
          </p:nvPr>
        </p:nvSpPr>
        <p:spPr/>
        <p:txBody>
          <a:bodyPr/>
          <a:lstStyle/>
          <a:p>
            <a:pPr>
              <a:spcAft>
                <a:spcPts val="500"/>
              </a:spcAft>
              <a:buSzPct val="100000"/>
            </a:pPr>
            <a:r>
              <a:rPr lang="en-US" sz="4400" b="1" dirty="0">
                <a:solidFill>
                  <a:srgbClr val="704EA6"/>
                </a:solidFill>
                <a:latin typeface="Calibri" pitchFamily="34" charset="0"/>
                <a:ea typeface="Calibri" pitchFamily="34" charset="-122"/>
                <a:cs typeface="Calibri" pitchFamily="34" charset="-120"/>
              </a:rPr>
              <a:t>Brownie points slide( differentiation)</a:t>
            </a:r>
            <a:endParaRPr lang="en-US" sz="4400" b="1" dirty="0">
              <a:solidFill>
                <a:srgbClr val="704EA6"/>
              </a:solidFill>
            </a:endParaRPr>
          </a:p>
        </p:txBody>
      </p:sp>
      <p:sp>
        <p:nvSpPr>
          <p:cNvPr id="3" name="Content Placeholder 2">
            <a:extLst>
              <a:ext uri="{FF2B5EF4-FFF2-40B4-BE49-F238E27FC236}">
                <a16:creationId xmlns:a16="http://schemas.microsoft.com/office/drawing/2014/main" id="{539AB598-5650-4E46-905A-9096F4C50C3B}"/>
              </a:ext>
            </a:extLst>
          </p:cNvPr>
          <p:cNvSpPr>
            <a:spLocks noGrp="1"/>
          </p:cNvSpPr>
          <p:nvPr>
            <p:ph idx="1"/>
          </p:nvPr>
        </p:nvSpPr>
        <p:spPr/>
        <p:txBody>
          <a:bodyPr/>
          <a:lstStyle/>
          <a:p>
            <a:r>
              <a:rPr b="1" sz="1800">
                <a:latin typeface="Calibri"/>
              </a:rPr>
              <a:t>Differentiation / Brownie Points</a:t>
            </a:r>
            <a:endParaRPr lang="en-IN" dirty="0"/>
          </a:p>
          <a:p>
            <a:pPr/>
            <a:r>
              <a:rPr b="0" sz="1400">
                <a:latin typeface="Calibri"/>
              </a:rPr>
              <a:t>• Directly closes the 10 concrete gaps identified from the latest 2025–2026 Streaming RAG papers instead of re-implementing one of them.</a:t>
            </a:r>
          </a:p>
          <a:p>
            <a:pPr/>
            <a:r>
              <a:rPr b="0" sz="1400">
                <a:latin typeface="Calibri"/>
              </a:rPr>
              <a:t>• Only system that jointly addresses memory-coverage trade-off + learned triggering + temporal KG + edge privacy in one coherent architecture.</a:t>
            </a:r>
          </a:p>
          <a:p>
            <a:pPr/>
            <a:r>
              <a:rPr b="0" sz="1400">
                <a:latin typeface="Calibri"/>
              </a:rPr>
              <a:t>• Strong Samsung relevance: smart-home / elder-care / on-device intelligence fit perfectly with PRISM and Galaxy ecosystem.</a:t>
            </a:r>
          </a:p>
          <a:p>
            <a:pPr/>
            <a:r>
              <a:rPr b="0" sz="1400">
                <a:latin typeface="Calibri"/>
              </a:rPr>
              <a:t>• Measurable, demo-able metrics (freshness, latency, temporal Recall) that judges can verify in a 5-min video.</a:t>
            </a:r>
          </a:p>
          <a:p>
            <a:pPr/>
            <a:r>
              <a:rPr b="0" sz="1400">
                <a:latin typeface="Calibri"/>
              </a:rPr>
              <a:t>• Production mindset: Docker, reproducible setup, incremental upserts that never block queries — not just a research prototype.</a:t>
            </a:r>
          </a:p>
          <a:p>
            <a:pPr/>
            <a:r>
              <a:rPr b="0" sz="1400">
                <a:latin typeface="Calibri"/>
              </a:rPr>
              <a:t>• Honest limitations slide shows research maturity.</a:t>
            </a:r>
          </a:p>
        </p:txBody>
      </p:sp>
    </p:spTree>
    <p:extLst>
      <p:ext uri="{BB962C8B-B14F-4D97-AF65-F5344CB8AC3E}">
        <p14:creationId xmlns:p14="http://schemas.microsoft.com/office/powerpoint/2010/main" val="209551768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04E28A-8ABF-4E15-B9E1-B0F49C0EE29F}"/>
              </a:ext>
            </a:extLst>
          </p:cNvPr>
          <p:cNvSpPr>
            <a:spLocks noGrp="1"/>
          </p:cNvSpPr>
          <p:nvPr>
            <p:ph type="title"/>
          </p:nvPr>
        </p:nvSpPr>
        <p:spPr/>
        <p:txBody>
          <a:bodyPr/>
          <a:lstStyle/>
          <a:p>
            <a:r>
              <a:rPr lang="en-IN" b="1" dirty="0">
                <a:solidFill>
                  <a:srgbClr val="704EA6"/>
                </a:solidFill>
                <a:latin typeface="+mn-lt"/>
              </a:rPr>
              <a:t>Checklist- Updated on Public GitHub</a:t>
            </a:r>
          </a:p>
        </p:txBody>
      </p:sp>
      <p:sp>
        <p:nvSpPr>
          <p:cNvPr id="3" name="Content Placeholder 2">
            <a:extLst>
              <a:ext uri="{FF2B5EF4-FFF2-40B4-BE49-F238E27FC236}">
                <a16:creationId xmlns:a16="http://schemas.microsoft.com/office/drawing/2014/main" id="{DAB3E6F6-9D00-4480-90E6-EC3C876F2628}"/>
              </a:ext>
            </a:extLst>
          </p:cNvPr>
          <p:cNvSpPr>
            <a:spLocks noGrp="1"/>
          </p:cNvSpPr>
          <p:nvPr>
            <p:ph idx="1"/>
          </p:nvPr>
        </p:nvSpPr>
        <p:spPr/>
        <p:txBody>
          <a:bodyPr/>
          <a:lstStyle/>
          <a:p>
            <a:pPr marL="177800" indent="-177800">
              <a:spcAft>
                <a:spcPts val="500"/>
              </a:spcAft>
              <a:buSzPct val="100000"/>
              <a:buChar char="•"/>
            </a:pPr>
            <a:r>
              <a:rPr sz="1600">
                <a:latin typeface="Calibri"/>
              </a:rPr>
              <a:t>Working prototype code — public or shared GitHub repo (Y)  [link to be finalized]</a:t>
            </a:r>
            <a:endParaRPr lang="en-US" sz="2800" dirty="0"/>
          </a:p>
          <a:p>
            <a:pPr/>
            <a:r>
              <a:rPr b="0" sz="1600">
                <a:latin typeface="Calibri"/>
              </a:rPr>
              <a:t>README with reproducible setup instructions (Y)</a:t>
            </a:r>
          </a:p>
          <a:p>
            <a:pPr/>
            <a:r>
              <a:rPr b="0" sz="1600">
                <a:latin typeface="Calibri"/>
              </a:rPr>
              <a:t>Demo video, max 5 minutes (YouTube or Drive link) (Y — to be recorded)</a:t>
            </a:r>
          </a:p>
          <a:p>
            <a:pPr/>
            <a:r>
              <a:rPr b="0" sz="1600">
                <a:latin typeface="Calibri"/>
              </a:rPr>
              <a:t>Presentation file (PPT or PDF) (Y — this file)</a:t>
            </a:r>
          </a:p>
          <a:p>
            <a:pPr/>
            <a:r>
              <a:rPr b="0" sz="1200">
                <a:latin typeface="Calibri"/>
              </a:rPr>
              <a:t/>
            </a:r>
          </a:p>
          <a:p>
            <a:pPr/>
            <a:r>
              <a:rPr b="0" sz="1300">
                <a:latin typeface="Calibri"/>
              </a:rPr>
              <a:t>Note: GitHub link will be added on the title slide once the public repository is created.</a:t>
            </a:r>
          </a:p>
        </p:txBody>
      </p:sp>
    </p:spTree>
    <p:extLst>
      <p:ext uri="{BB962C8B-B14F-4D97-AF65-F5344CB8AC3E}">
        <p14:creationId xmlns:p14="http://schemas.microsoft.com/office/powerpoint/2010/main" val="18069930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1046181" y="3730214"/>
            <a:ext cx="6766560" cy="868680"/>
          </a:xfrm>
          <a:prstGeom prst="rect">
            <a:avLst/>
          </a:prstGeom>
          <a:noFill/>
          <a:ln/>
        </p:spPr>
        <p:txBody>
          <a:bodyPr wrap="square" lIns="0" tIns="0" rIns="0" bIns="0" rtlCol="0" anchor="ctr"/>
          <a:lstStyle/>
          <a:p>
            <a:pPr marL="0" indent="0">
              <a:buNone/>
            </a:pPr>
            <a:r>
              <a:rPr lang="en-US" sz="4600" b="1" dirty="0">
                <a:solidFill>
                  <a:srgbClr val="14142B"/>
                </a:solidFill>
                <a:latin typeface="Arial" pitchFamily="34" charset="0"/>
                <a:ea typeface="Arial" pitchFamily="34" charset="-122"/>
                <a:cs typeface="Arial" pitchFamily="34" charset="-120"/>
              </a:rPr>
              <a:t>Thank you</a:t>
            </a:r>
            <a:endParaRPr lang="en-US" sz="4600" dirty="0"/>
          </a:p>
        </p:txBody>
      </p:sp>
      <p:sp>
        <p:nvSpPr>
          <p:cNvPr id="28" name="Text 25"/>
          <p:cNvSpPr txBox="1"/>
          <p:nvPr/>
        </p:nvSpPr>
        <p:spPr>
          <a:xfrm>
            <a:off x="777240" y="5897880"/>
            <a:ext cx="10607040" cy="292608"/>
          </a:xfrm>
          <a:prstGeom prst="rect">
            <a:avLst/>
          </a:prstGeom>
          <a:noFill/>
          <a:ln/>
        </p:spPr>
        <p:txBody>
          <a:bodyPr wrap="square" lIns="0" tIns="0" rIns="0" bIns="0" rtlCol="0" anchor="ctr"/>
          <a:lstStyle/>
          <a:p>
            <a:pPr marL="0" indent="0">
              <a:buNone/>
            </a:pPr>
            <a:r>
              <a:rPr lang="en-US" sz="1100" dirty="0">
                <a:solidFill>
                  <a:srgbClr val="63637E"/>
                </a:solidFill>
                <a:latin typeface="Calibri" pitchFamily="34" charset="0"/>
                <a:ea typeface="Calibri" pitchFamily="34" charset="-122"/>
                <a:cs typeface="Calibri" pitchFamily="34" charset="-120"/>
              </a:rPr>
              <a:t>Organised by the Language AI Team and the PRISM Team, Samsung R&amp;D Institute India</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docProps/app.xml><?xml version="1.0" encoding="utf-8"?>
<Properties xmlns="http://schemas.openxmlformats.org/officeDocument/2006/extended-properties" xmlns:vt="http://schemas.openxmlformats.org/officeDocument/2006/docPropsVTypes">
  <Template/>
  <TotalTime>65</TotalTime>
  <Words>266</Words>
  <Application>Microsoft Office PowerPoint</Application>
  <PresentationFormat>Widescreen</PresentationFormat>
  <Paragraphs>32</Paragraphs>
  <Slides>12</Slides>
  <Notes>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Arial</vt:lpstr>
      <vt:lpstr>Calibri</vt:lpstr>
      <vt:lpstr>Calibri Light</vt:lpstr>
      <vt:lpstr>Office Theme</vt:lpstr>
      <vt:lpstr>PowerPoint Presentation</vt:lpstr>
      <vt:lpstr>Theme</vt:lpstr>
      <vt:lpstr>Existing Solutions &amp; Gaps</vt:lpstr>
      <vt:lpstr>Our Solutions &amp; Architecture Diagram</vt:lpstr>
      <vt:lpstr>Demo &amp; Product Walkthrough</vt:lpstr>
      <vt:lpstr>Tools and tech stack used</vt:lpstr>
      <vt:lpstr>Impact &amp; Use case</vt:lpstr>
      <vt:lpstr>Innovation highlights, results and limitations</vt:lpstr>
      <vt:lpstr>What’s next</vt:lpstr>
      <vt:lpstr>Brownie points slide( differentiation)</vt:lpstr>
      <vt:lpstr>Checklist- Updated on Public GitHub</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Binny Lakra/PRISM /SRI-Bangalore/Professional/Samsung Electronics</dc:creator>
  <cp:lastModifiedBy>Binny Lakra/PRISM /SRI-Bangalore/Professional/Samsung Electronics</cp:lastModifiedBy>
  <cp:revision>6</cp:revision>
  <dcterms:created xsi:type="dcterms:W3CDTF">2026-09-07T12:01:01Z</dcterms:created>
  <dcterms:modified xsi:type="dcterms:W3CDTF">2026-09-08T10:03:30Z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SCPROP">
    <vt:lpwstr>NSCCustomProperty</vt:lpwstr>
  </property>
</Properties>
</file>